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4a706d7d54636" /><Relationship Type="http://schemas.openxmlformats.org/officeDocument/2006/relationships/extended-properties" Target="/docProps/app.xml" Id="R7caf183a3d064a4d" /><Relationship Type="http://schemas.openxmlformats.org/officeDocument/2006/relationships/officeDocument" Target="/ppt/presentation.xml" Id="R269c71f14e77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61d144abf420e"/>
  </p:sldMasterIdLst>
  <p:notesMasterIdLst>
    <p:notesMasterId xmlns:r="http://schemas.openxmlformats.org/officeDocument/2006/relationships" r:id="Rf093b3f9b0314208"/>
  </p:notesMasterIdLst>
  <p:sldIdLst>
    <p:sldId xmlns:r="http://schemas.openxmlformats.org/officeDocument/2006/relationships" id="256" r:id="R48ce13d3bac441d9"/>
    <p:sldId xmlns:r="http://schemas.openxmlformats.org/officeDocument/2006/relationships" id="257" r:id="R011b1d676d464177"/>
    <p:sldId xmlns:r="http://schemas.openxmlformats.org/officeDocument/2006/relationships" id="258" r:id="Rdc6fab08b7244a88"/>
    <p:sldId xmlns:r="http://schemas.openxmlformats.org/officeDocument/2006/relationships" id="259" r:id="R4b055fec892546cc"/>
    <p:sldId xmlns:r="http://schemas.openxmlformats.org/officeDocument/2006/relationships" id="260" r:id="R0c54c02131a84ac5"/>
    <p:sldId xmlns:r="http://schemas.openxmlformats.org/officeDocument/2006/relationships" id="261" r:id="Raaa8dab98953483b"/>
    <p:sldId xmlns:r="http://schemas.openxmlformats.org/officeDocument/2006/relationships" id="262" r:id="R9753649b909f449c"/>
    <p:sldId xmlns:r="http://schemas.openxmlformats.org/officeDocument/2006/relationships" id="263" r:id="R5cdcd3de5fe545dc"/>
    <p:sldId xmlns:r="http://schemas.openxmlformats.org/officeDocument/2006/relationships" id="264" r:id="R85577081ea5c475d"/>
    <p:sldId xmlns:r="http://schemas.openxmlformats.org/officeDocument/2006/relationships" id="265" r:id="R5810d56316214304"/>
    <p:sldId xmlns:r="http://schemas.openxmlformats.org/officeDocument/2006/relationships" id="266" r:id="R2185f421b45549f0"/>
    <p:sldId xmlns:r="http://schemas.openxmlformats.org/officeDocument/2006/relationships" id="267" r:id="Rf30a307412b14b2d"/>
    <p:sldId xmlns:r="http://schemas.openxmlformats.org/officeDocument/2006/relationships" id="268" r:id="Raf11fa65bd0147a6"/>
    <p:sldId xmlns:r="http://schemas.openxmlformats.org/officeDocument/2006/relationships" id="269" r:id="Rb6f195fa32bc48af"/>
    <p:sldId xmlns:r="http://schemas.openxmlformats.org/officeDocument/2006/relationships" id="270" r:id="Rc3bf0c9ed89248e0"/>
    <p:sldId xmlns:r="http://schemas.openxmlformats.org/officeDocument/2006/relationships" id="271" r:id="R254d8ac5b41e422c"/>
    <p:sldId xmlns:r="http://schemas.openxmlformats.org/officeDocument/2006/relationships" id="272" r:id="Re33160afa04e4e76"/>
    <p:sldId xmlns:r="http://schemas.openxmlformats.org/officeDocument/2006/relationships" id="273" r:id="Rb3c82ff4987f4960"/>
    <p:sldId xmlns:r="http://schemas.openxmlformats.org/officeDocument/2006/relationships" id="274" r:id="R75c8f862a93f4723"/>
    <p:sldId xmlns:r="http://schemas.openxmlformats.org/officeDocument/2006/relationships" id="275" r:id="R9a964a3911dd4f13"/>
    <p:sldId xmlns:r="http://schemas.openxmlformats.org/officeDocument/2006/relationships" id="276" r:id="Rf3673047c0eb40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874e009504e9e" /><Relationship Type="http://schemas.openxmlformats.org/officeDocument/2006/relationships/slideMaster" Target="/ppt/slideMasters/slideMaster1.xml" Id="Re3461d144abf420e" /><Relationship Type="http://schemas.openxmlformats.org/officeDocument/2006/relationships/notesMaster" Target="/ppt/notesMasters/notesMaster1.xml" Id="Rf093b3f9b0314208" /><Relationship Type="http://schemas.openxmlformats.org/officeDocument/2006/relationships/presProps" Target="/ppt/presProps.xml" Id="R320dd2033b6947ca" /><Relationship Type="http://schemas.openxmlformats.org/officeDocument/2006/relationships/tableStyles" Target="/ppt/tableStyles.xml" Id="Rd3bb5c350e9845fd" /><Relationship Type="http://schemas.openxmlformats.org/officeDocument/2006/relationships/slide" Target="/ppt/slides/slide1.xml" Id="R48ce13d3bac441d9" /><Relationship Type="http://schemas.openxmlformats.org/officeDocument/2006/relationships/slide" Target="/ppt/slides/slide2.xml" Id="R011b1d676d464177" /><Relationship Type="http://schemas.openxmlformats.org/officeDocument/2006/relationships/slide" Target="/ppt/slides/slide3.xml" Id="Rdc6fab08b7244a88" /><Relationship Type="http://schemas.openxmlformats.org/officeDocument/2006/relationships/slide" Target="/ppt/slides/slide4.xml" Id="R4b055fec892546cc" /><Relationship Type="http://schemas.openxmlformats.org/officeDocument/2006/relationships/slide" Target="/ppt/slides/slide5.xml" Id="R0c54c02131a84ac5" /><Relationship Type="http://schemas.openxmlformats.org/officeDocument/2006/relationships/slide" Target="/ppt/slides/slide6.xml" Id="Raaa8dab98953483b" /><Relationship Type="http://schemas.openxmlformats.org/officeDocument/2006/relationships/slide" Target="/ppt/slides/slide7.xml" Id="R9753649b909f449c" /><Relationship Type="http://schemas.openxmlformats.org/officeDocument/2006/relationships/slide" Target="/ppt/slides/slide8.xml" Id="R5cdcd3de5fe545dc" /><Relationship Type="http://schemas.openxmlformats.org/officeDocument/2006/relationships/slide" Target="/ppt/slides/slide9.xml" Id="R85577081ea5c475d" /><Relationship Type="http://schemas.openxmlformats.org/officeDocument/2006/relationships/slide" Target="/ppt/slides/slide10.xml" Id="R5810d56316214304" /><Relationship Type="http://schemas.openxmlformats.org/officeDocument/2006/relationships/slide" Target="/ppt/slides/slide11.xml" Id="R2185f421b45549f0" /><Relationship Type="http://schemas.openxmlformats.org/officeDocument/2006/relationships/slide" Target="/ppt/slides/slide12.xml" Id="Rf30a307412b14b2d" /><Relationship Type="http://schemas.openxmlformats.org/officeDocument/2006/relationships/slide" Target="/ppt/slides/slide13.xml" Id="Raf11fa65bd0147a6" /><Relationship Type="http://schemas.openxmlformats.org/officeDocument/2006/relationships/slide" Target="/ppt/slides/slide14.xml" Id="Rb6f195fa32bc48af" /><Relationship Type="http://schemas.openxmlformats.org/officeDocument/2006/relationships/slide" Target="/ppt/slides/slide15.xml" Id="Rc3bf0c9ed89248e0" /><Relationship Type="http://schemas.openxmlformats.org/officeDocument/2006/relationships/slide" Target="/ppt/slides/slide16.xml" Id="R254d8ac5b41e422c" /><Relationship Type="http://schemas.openxmlformats.org/officeDocument/2006/relationships/slide" Target="/ppt/slides/slide17.xml" Id="Re33160afa04e4e76" /><Relationship Type="http://schemas.openxmlformats.org/officeDocument/2006/relationships/slide" Target="/ppt/slides/slide18.xml" Id="Rb3c82ff4987f4960" /><Relationship Type="http://schemas.openxmlformats.org/officeDocument/2006/relationships/slide" Target="/ppt/slides/slide19.xml" Id="R75c8f862a93f4723" /><Relationship Type="http://schemas.openxmlformats.org/officeDocument/2006/relationships/slide" Target="/ppt/slides/slide20.xml" Id="R9a964a3911dd4f13" /><Relationship Type="http://schemas.openxmlformats.org/officeDocument/2006/relationships/slide" Target="/ppt/slides/slide21.xml" Id="Rf3673047c0eb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ca5f36f73e43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lawAgent Office">
      <a:dk1>
        <a:srgbClr val="000000"/>
      </a:dk1>
      <a:lt1>
        <a:srgbClr val="FFFFFF"/>
      </a:lt1>
      <a:dk2>
        <a:srgbClr val="25283D"/>
      </a:dk2>
      <a:lt2>
        <a:srgbClr val="EEF3F6"/>
      </a:lt2>
      <a:accent1>
        <a:srgbClr val="0078F0"/>
      </a:accent1>
      <a:accent2>
        <a:srgbClr val="2FA69A"/>
      </a:accent2>
      <a:accent3>
        <a:srgbClr val="D6AD2C"/>
      </a:accent3>
      <a:accent4>
        <a:srgbClr val="EF2F4F"/>
      </a:accent4>
      <a:accent5>
        <a:srgbClr val="64748B"/>
      </a:accent5>
      <a:accent6>
        <a:srgbClr val="34A853"/>
      </a:accent6>
      <a:hlink>
        <a:srgbClr val="0078F0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wAgent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cdf48aa164908" /><Relationship Type="http://schemas.openxmlformats.org/officeDocument/2006/relationships/notesMaster" Target="/ppt/notesMasters/notesMaster1.xml" Id="R574f5c3a2cff43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cc8fc3728644a8" /><Relationship Type="http://schemas.openxmlformats.org/officeDocument/2006/relationships/notesMaster" Target="/ppt/notesMasters/notesMaster1.xml" Id="R6995e5850c77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20ee9688c4cbd" /><Relationship Type="http://schemas.openxmlformats.org/officeDocument/2006/relationships/notesMaster" Target="/ppt/notesMasters/notesMaster1.xml" Id="Rf61cdb361be0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f1650f57cc4dbb" /><Relationship Type="http://schemas.openxmlformats.org/officeDocument/2006/relationships/notesMaster" Target="/ppt/notesMasters/notesMaster1.xml" Id="R0b4e9303007049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573ff1a8c47cb" /><Relationship Type="http://schemas.openxmlformats.org/officeDocument/2006/relationships/notesMaster" Target="/ppt/notesMasters/notesMaster1.xml" Id="R1e71806a690e46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6ba24b194a476a" /><Relationship Type="http://schemas.openxmlformats.org/officeDocument/2006/relationships/notesMaster" Target="/ppt/notesMasters/notesMaster1.xml" Id="R5f2eb613fa6e49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edb322880b4d00" /><Relationship Type="http://schemas.openxmlformats.org/officeDocument/2006/relationships/notesMaster" Target="/ppt/notesMasters/notesMaster1.xml" Id="R73aa74c86af941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ea39ab97564566" /><Relationship Type="http://schemas.openxmlformats.org/officeDocument/2006/relationships/notesMaster" Target="/ppt/notesMasters/notesMaster1.xml" Id="Re2f13b2d24614f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106ea3791047aa" /><Relationship Type="http://schemas.openxmlformats.org/officeDocument/2006/relationships/notesMaster" Target="/ppt/notesMasters/notesMaster1.xml" Id="R0ecb78a2878745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2054e532054626" /><Relationship Type="http://schemas.openxmlformats.org/officeDocument/2006/relationships/notesMaster" Target="/ppt/notesMasters/notesMaster1.xml" Id="Rb2bd072c406b46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2f5163e3344ba" /><Relationship Type="http://schemas.openxmlformats.org/officeDocument/2006/relationships/notesMaster" Target="/ppt/notesMasters/notesMaster1.xml" Id="R5c23415026034a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8efd661360445b" /><Relationship Type="http://schemas.openxmlformats.org/officeDocument/2006/relationships/notesMaster" Target="/ppt/notesMasters/notesMaster1.xml" Id="R65b0e9cf84494c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a6d05278f1477a" /><Relationship Type="http://schemas.openxmlformats.org/officeDocument/2006/relationships/notesMaster" Target="/ppt/notesMasters/notesMaster1.xml" Id="Rcbffd88fe7c240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c6259470f64d2a" /><Relationship Type="http://schemas.openxmlformats.org/officeDocument/2006/relationships/notesMaster" Target="/ppt/notesMasters/notesMaster1.xml" Id="R8da9fc517c9a43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e84ee265d74c3e" /><Relationship Type="http://schemas.openxmlformats.org/officeDocument/2006/relationships/notesMaster" Target="/ppt/notesMasters/notesMaster1.xml" Id="R590406b055ae45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79d5f209de4f8a" /><Relationship Type="http://schemas.openxmlformats.org/officeDocument/2006/relationships/notesMaster" Target="/ppt/notesMasters/notesMaster1.xml" Id="R59e13be9d9d34c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e8be902d6e4ac1" /><Relationship Type="http://schemas.openxmlformats.org/officeDocument/2006/relationships/notesMaster" Target="/ppt/notesMasters/notesMaster1.xml" Id="R678ad30e5a2a42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c9509037884f3b" /><Relationship Type="http://schemas.openxmlformats.org/officeDocument/2006/relationships/notesMaster" Target="/ppt/notesMasters/notesMaster1.xml" Id="R0520e74d117c4a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f20d50523c41ed" /><Relationship Type="http://schemas.openxmlformats.org/officeDocument/2006/relationships/notesMaster" Target="/ppt/notesMasters/notesMaster1.xml" Id="R185b3b4dd72c4c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fbf2834d6c4669" /><Relationship Type="http://schemas.openxmlformats.org/officeDocument/2006/relationships/notesMaster" Target="/ppt/notesMasters/notesMaster1.xml" Id="R9fa76b751cdf40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5ce6b82a5064b06" /><Relationship Type="http://schemas.openxmlformats.org/officeDocument/2006/relationships/notesMaster" Target="/ppt/notesMasters/notesMaster1.xml" Id="Racc5daa41777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0cb57c90e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07c275f4d4c41" /><Relationship Type="http://schemas.openxmlformats.org/officeDocument/2006/relationships/slideLayout" Target="/ppt/slideLayouts/slideLayout1.xml" Id="Rd88121c5243f46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121c5243f46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lawAgent Office">
      <a:dk1>
        <a:srgbClr val="000000"/>
      </a:dk1>
      <a:lt1>
        <a:srgbClr val="FFFFFF"/>
      </a:lt1>
      <a:dk2>
        <a:srgbClr val="25283D"/>
      </a:dk2>
      <a:lt2>
        <a:srgbClr val="EEF3F6"/>
      </a:lt2>
      <a:accent1>
        <a:srgbClr val="0078F0"/>
      </a:accent1>
      <a:accent2>
        <a:srgbClr val="2FA69A"/>
      </a:accent2>
      <a:accent3>
        <a:srgbClr val="D6AD2C"/>
      </a:accent3>
      <a:accent4>
        <a:srgbClr val="EF2F4F"/>
      </a:accent4>
      <a:accent5>
        <a:srgbClr val="64748B"/>
      </a:accent5>
      <a:accent6>
        <a:srgbClr val="34A853"/>
      </a:accent6>
      <a:hlink>
        <a:srgbClr val="0078F0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wAgent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a7ce9906543df" /><Relationship Type="http://schemas.openxmlformats.org/officeDocument/2006/relationships/notesSlide" Target="/ppt/notesSlides/notesSlide1.xml" Id="R5c23a347ac61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f370b8ec4653" /><Relationship Type="http://schemas.openxmlformats.org/officeDocument/2006/relationships/notesSlide" Target="/ppt/notesSlides/notesSlide2.xml" Id="Rfc8d74c5878a47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6a20ac7b744b7" /><Relationship Type="http://schemas.openxmlformats.org/officeDocument/2006/relationships/notesSlide" Target="/ppt/notesSlides/notesSlide3.xml" Id="R1a5760ef1002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68dff33584be4" /><Relationship Type="http://schemas.openxmlformats.org/officeDocument/2006/relationships/notesSlide" Target="/ppt/notesSlides/notesSlide4.xml" Id="R254e642aab404c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01d8cdb524671" /><Relationship Type="http://schemas.openxmlformats.org/officeDocument/2006/relationships/notesSlide" Target="/ppt/notesSlides/notesSlide5.xml" Id="R9195c49af52542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d0fee06b842eb" /><Relationship Type="http://schemas.openxmlformats.org/officeDocument/2006/relationships/notesSlide" Target="/ppt/notesSlides/notesSlide6.xml" Id="R34a9d558a486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c320284e74b63" /><Relationship Type="http://schemas.openxmlformats.org/officeDocument/2006/relationships/notesSlide" Target="/ppt/notesSlides/notesSlide7.xml" Id="Reb53ccf00e8748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8e06640ca4ce7" /><Relationship Type="http://schemas.openxmlformats.org/officeDocument/2006/relationships/notesSlide" Target="/ppt/notesSlides/notesSlide8.xml" Id="R7613ca181b2f43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ca4c4dcdc40b3" /><Relationship Type="http://schemas.openxmlformats.org/officeDocument/2006/relationships/notesSlide" Target="/ppt/notesSlides/notesSlide9.xml" Id="Re8fcef88634040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af28ca5444160" /><Relationship Type="http://schemas.openxmlformats.org/officeDocument/2006/relationships/notesSlide" Target="/ppt/notesSlides/notesSlide10.xml" Id="R70ee38e2338043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9d806c7cd4ef8" /><Relationship Type="http://schemas.openxmlformats.org/officeDocument/2006/relationships/notesSlide" Target="/ppt/notesSlides/notesSlide11.xml" Id="R5f8aefd263f54d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bfa43db4c4a1a" /><Relationship Type="http://schemas.openxmlformats.org/officeDocument/2006/relationships/notesSlide" Target="/ppt/notesSlides/notesSlide12.xml" Id="R8c18247392174c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07cc89e10458a" /><Relationship Type="http://schemas.openxmlformats.org/officeDocument/2006/relationships/notesSlide" Target="/ppt/notesSlides/notesSlide13.xml" Id="Rf7728ac761f943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c24f7693b47e5" /><Relationship Type="http://schemas.openxmlformats.org/officeDocument/2006/relationships/notesSlide" Target="/ppt/notesSlides/notesSlide14.xml" Id="R0643c1f3039140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f1691d15749ed" /><Relationship Type="http://schemas.openxmlformats.org/officeDocument/2006/relationships/notesSlide" Target="/ppt/notesSlides/notesSlide15.xml" Id="R6989fbe45acb4f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4c408a7db4271" /><Relationship Type="http://schemas.openxmlformats.org/officeDocument/2006/relationships/notesSlide" Target="/ppt/notesSlides/notesSlide16.xml" Id="R4ed12ce0c86742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8425cdc974bef" /><Relationship Type="http://schemas.openxmlformats.org/officeDocument/2006/relationships/notesSlide" Target="/ppt/notesSlides/notesSlide17.xml" Id="R1fe24a2ab1c847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2c795ccbe4df9" /><Relationship Type="http://schemas.openxmlformats.org/officeDocument/2006/relationships/notesSlide" Target="/ppt/notesSlides/notesSlide18.xml" Id="Rc96ec34480f24b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01309037a4b7f" /><Relationship Type="http://schemas.openxmlformats.org/officeDocument/2006/relationships/notesSlide" Target="/ppt/notesSlides/notesSlide19.xml" Id="Re88cfaf835cf43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1fec4bcbd4560" /><Relationship Type="http://schemas.openxmlformats.org/officeDocument/2006/relationships/notesSlide" Target="/ppt/notesSlides/notesSlide20.xml" Id="R9adfc1d4eb7347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b194a1cf94f63" /><Relationship Type="http://schemas.openxmlformats.org/officeDocument/2006/relationships/notesSlide" Target="/ppt/notesSlides/notesSlide21.xml" Id="Rcd849a9ce4204e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6CF54-507E-467B-923F-9F785D1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41D6B-9450-4ACA-9B5E-239B9A15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90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F6BE4-1BC6-4902-B8B2-5B701B4A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89DE9-0817-406D-AEEA-E45B6EA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52237-9C52-4812-B4E3-1228A0AF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Harness Agent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1F1A4-471B-4AE4-8AC0-12C29437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面向 Spring Boot 业务系统落地的企业级本地行动 Agent</a:t>
            </a:r>
          </a:p>
        </p:txBody>
      </p:sp>
      <p:sp>
        <p:nvSpPr>
          <p:cNvPr id="7" name="定位">
            <a:extLst xmlns:a="http://schemas.openxmlformats.org/drawingml/2006/main">
              <a:ext uri="{FF2B5EF4-FFF2-40B4-BE49-F238E27FC236}">
                <a16:creationId xmlns:a16="http://schemas.microsoft.com/office/drawing/2014/main" id="{81184062-0AB9-4CA8-A6DA-706F56DE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19200"/>
            <a:ext cx="581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35334-0623-447E-830A-B04480C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19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16F81-F385-4269-84B6-9E082ED4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0970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FF78D-A963-45BA-84D2-E31E52E4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539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可独立运行、可嵌入业务系统、可审计、可恢复、可扩展的 Spring Boot Runtime。</a:t>
            </a:r>
          </a:p>
        </p:txBody>
      </p:sp>
      <p:sp>
        <p:nvSpPr>
          <p:cNvPr id="11" name="新增重点">
            <a:extLst xmlns:a="http://schemas.openxmlformats.org/drawingml/2006/main">
              <a:ext uri="{FF2B5EF4-FFF2-40B4-BE49-F238E27FC236}">
                <a16:creationId xmlns:a16="http://schemas.microsoft.com/office/drawing/2014/main" id="{B9BC6D61-A64B-4002-BBBE-7F7A0D31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581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846D7-F04E-4792-9DBA-73BC1639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A7816-C697-4D3C-9763-EFDD8531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新增重点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B0C32-56F1-4937-B3CC-9A462D1C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539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计划模式、自动化任务、通道与附件、权限治理、Worker/SubAgent、MCP/Skill 生态已进入主链路。</a:t>
            </a:r>
          </a:p>
        </p:txBody>
      </p:sp>
      <p:sp>
        <p:nvSpPr>
          <p:cNvPr id="15" name="核心判断">
            <a:extLst xmlns:a="http://schemas.openxmlformats.org/drawingml/2006/main">
              <a:ext uri="{FF2B5EF4-FFF2-40B4-BE49-F238E27FC236}">
                <a16:creationId xmlns:a16="http://schemas.microsoft.com/office/drawing/2014/main" id="{469A400F-8650-4B8E-A1D4-392B778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581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8E08B-96BA-499B-8F78-B30FE7D0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E5D3F-4AF3-463C-AA51-79F720B7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C2B39-72FD-4666-AC54-07543805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539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它不是通用 Agent 生态平台，而是把 Agent 能力接入 Java 企业应用的 Runtime 内核。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44E67-57C0-45DE-BD9E-C6AD332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项目文档 PPT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EE8B1-7759-4354-8224-BE7BB869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2026-07</a:t>
            </a:r>
          </a:p>
        </p:txBody>
      </p:sp>
    </p:spTree>
    <p:extLst>
      <p:ext uri="{BB962C8B-B14F-4D97-AF65-F5344CB8AC3E}">
        <p14:creationId xmlns:p14="http://schemas.microsoft.com/office/powerpoint/2010/main" val="11630683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10B0F-2E6A-4BD6-AC5D-9C19FE5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7DFE6-88D7-4C07-9DAA-87E21AB3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A632D-1676-4993-8868-4C09E54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按业务能力和 Agent 技术栈重新组织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20EE2-1609-4241-BF06-CADD114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44F86-A6CD-4209-81A2-61ACC3F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81A62-979C-4FF6-81BD-CF1FC22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D5BF9-3208-4761-B707-0F5C5FBD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85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 技术栈视角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0EE88-8742-47C0-9B27-23A4B15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335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参考图1说明模型、记忆、工具、Runtime、安全治理五层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F129F-7592-470E-9D28-85058E9E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62BE7-9A6B-40C2-A198-FA2FAC3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DE0F8-4A84-4E53-A0AE-37C78CF3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 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7164D-2713-49B1-B1F6-1963EAF7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03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项目架构图、系统架构图和执行链路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CD8E8-696D-4521-AE3A-D0BF73A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78D01-94B8-45A7-B4C5-6D35B43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F3791-8BA1-4161-9085-7594CFD4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19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新增业务功能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4A2CF-2A7A-445B-B4A5-A94CF478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Plan、自动化、通道附件、MCP/Skill、权限、Worker/SubAgent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058E9-838A-4890-BC53-3322FFF4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9BD5D-10AD-4FB5-A04A-0B2EADA9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3AAD7-8073-4D19-8075-417E6C62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场景与竞品比较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0D2BC-56CC-4F0E-8BFF-368243F5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使用场景、OpenClaw/Hermes/AgentScope 比较、优缺点和边界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790C2-F494-4F2F-A578-4C2ECB8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37427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E82223-0F39-44AB-BA1A-A96EEAD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2A85B-BFB2-49D0-AD8D-5EC932DB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按图1视角：Agent 技术栈覆盖情况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4432E-8D38-4C9A-9A1D-86CC685A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从现代 Agent 通用分层看 ClawAgent 已覆盖哪些主链路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2FAC3-8A2E-4F31-A5A8-DD0183DA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0D654-335F-467A-B900-F517F49D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C83EF-228A-4D07-972A-D3E53E12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68B59-0428-4C54-8E15-F9EC2119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7A1B4-408B-4831-B34F-E7991045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85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DA7E3-3CA1-4C73-873E-AB3DDE8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28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OpenAI-compatible / DeepSeek / Qwen / GLM 等兼容接入；Spring AI 可选适配；支持 chat、embeddings、vision 最终回复。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2781D-0439-49A2-B9DC-E6EC033A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AB977-A510-4A30-B0D3-26B51C05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07BCF-9919-4F38-8B24-8F64705F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记忆层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F7F45-174A-4E89-9483-F44A9B7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FTS5 + JVector + RRF 混合检索；命中记录、候选审核、长期记忆管理页。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B7A02-66CA-47B1-837E-15E5B0E7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66D01-28D7-43E2-90E5-71A1C393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A7E25-E2D3-4747-9265-F597921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工具层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B5A1B-F84E-49A9-AA0B-09812D3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内置 time/weather/web/filesystem/process/execute；业务 AgentTool Bean；MCP tools；Skill tools。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695C7-0576-4771-85C7-4AB3D95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7B767-61C9-45CD-9EB1-96919770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449C1-BDB1-4DCD-8439-291D72B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Runtime 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4C170-2693-4AFD-9B6D-94DD87C5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DefaultAgentRuntime 管会话、任务、步骤、事件、ReAct、Tool Calling、Plan 执行、SSE。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B2481-C1AC-45F0-B22C-6A55C598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25E27-91A5-4A7F-AA8C-97142166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869CC-A275-448D-8145-88B9BAF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安全治理层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13C52-F06E-4BE0-8B34-5E0B7DC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ToolGuard、PendingAction、角色策略、API Token、设备、通道绑定、Rate Limit、审计与脱敏。</a:t>
            </a:r>
          </a:p>
        </p:txBody>
      </p:sp>
      <p:sp>
        <p:nvSpPr>
          <p:cNvPr id="26" name="结论">
            <a:extLst xmlns:a="http://schemas.openxmlformats.org/drawingml/2006/main">
              <a:ext uri="{FF2B5EF4-FFF2-40B4-BE49-F238E27FC236}">
                <a16:creationId xmlns:a16="http://schemas.microsoft.com/office/drawing/2014/main" id="{F68EEA8E-D64C-44D5-9957-77B53CE0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76350"/>
            <a:ext cx="2190750" cy="38290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BF1F01-124D-4676-B0D7-871096EF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76350"/>
            <a:ext cx="762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383B1-4C3C-41CD-B6A6-3DC1BD9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668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E4849-9BD5-4FF3-BB6A-88C230B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17335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ClawAgent 不是大而全生态。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强项在 Java 业务落地。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评测平台、分布式观测、云沙箱仍是后续边界。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B79B63-6116-4748-BB00-CD9E688B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参考：用户提供的 Agent 技术栈图；本项目 README / CONFIGURATION / pom.xml。</a:t>
            </a:r>
          </a:p>
        </p:txBody>
      </p:sp>
    </p:spTree>
    <p:extLst>
      <p:ext uri="{BB962C8B-B14F-4D97-AF65-F5344CB8AC3E}">
        <p14:creationId xmlns:p14="http://schemas.microsoft.com/office/powerpoint/2010/main" val="18851641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50AC6B-8B62-4C8A-A725-0DB9132F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65488-9E6D-4A4C-B95E-1E0818D0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项目架构图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4BABF-7616-4D83-A0E9-99F37B3F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从入口层、Runtime、能力扩展、数据与治理四层看模块分工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0E399-F4B9-4F72-8B4F-AF33628E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2FF5F-1ECE-42D6-B985-0FCDC0D2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2CE39-C284-41EA-A257-9B4D7DF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752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0B654-D6B6-4E8A-A500-39EAC123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入口与界面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A095F-1F73-47F8-967A-8902A8CE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001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E89A6-26A5-4692-98D0-60B190A7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35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9E085-40FC-48F9-8CCE-AED4CA0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001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858EA-1229-414D-B657-845FFE20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Web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88C31-8252-4DD3-96DE-91B547C7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001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7FB82-74E0-4B9F-9A82-34BCAF47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5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React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AA6F2-710B-44FC-BB6A-16E8B496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2001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C3805-AA10-47ED-A458-FA7ED9E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5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Desktop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CFDCB-B33C-4C55-BDFB-1B7D4CA7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001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F0DD9-2E09-4F00-AE16-1792649A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300E6-08D5-4081-9949-D2A4720D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2001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61EF6-5611-402A-9E50-AC3E9CD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5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Channel 入站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CDF14-F174-4691-A504-5E40DBEB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52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BC5DC-FA11-44D2-9668-5B6516D1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运行主链路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89E90-166F-4707-8439-5697FC9B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862DB-20DB-46A5-8B26-687CD834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AgentRuntime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022AE-1A9E-4619-BEB9-082AFDD5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A784B-FE1C-4FE6-84FE-6459834A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Session/Task/Step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7FC42A-D289-438A-A774-230E0747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764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69D7F-D950-445E-9FB1-ADBF9239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28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Planner Router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04870-1218-4844-9C49-475FB80F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764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303D76-453D-46D2-81E3-35FCCC60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28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ReAct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C6D00-54FD-4F46-A570-46A2C94C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B40AA-10F6-4DF1-A979-8CAC2B57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 Calling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E094A6-93DE-4891-A9DA-F1D0B4C0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764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E136F9-6037-41D3-8DB7-EB0E520B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28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SSE 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D56090-1CA9-48E0-92E2-8335F425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752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98E0FB-E060-44CA-985A-D6E1B5A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能力扩展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C909A4-7EA7-426A-984E-79E7A913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92FD5-F8F8-4003-944E-5C192C7C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05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Toolkit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C5C1F6-4D25-4175-9B94-281CAF1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11EAE-8D82-41AC-ADD9-D6EF8727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 Client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CCCE8C-A20C-48A5-80A3-79D40DC5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D0FAAB-0D40-4FDC-8B77-8B6177D8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Skill Executor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C436F1-CBD3-4675-B678-EF59CD2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527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E2BAB7-99C8-432E-950E-6B12BF4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AgentTool Bean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E9FB75-5193-4CE0-85EE-579430CC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527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3EAF48-D316-480E-99F7-EDC3906F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SubAgent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29AF14-FF7F-4721-BC30-FAD25538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2678BE-85C6-45F8-8592-D95BA91B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05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77908B-769C-4267-B825-06BDECF6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752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4A1D2E-FC3D-4DD7-AA2C-BF653104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模型与知识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C0097C-C3AC-44ED-98CB-6491101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290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C4562A-ADD4-4B5A-A400-B4CEB06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81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OpenAI-compatible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23C260-F2BE-461E-99CC-DCA01DE2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1D65FB-49DA-4D58-A698-1F89254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81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Spring AI optional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55E967-33B7-436F-A6EF-09CF672C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574E83-017B-47BE-8840-7E32CCFA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81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845A63-8B9B-401A-AF61-4570089F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53A3D1-AD67-401D-A26B-2ADF816D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D33A68-C40F-4490-A6C4-11C614A8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B081B7-F7C9-4F3E-B6F9-8E19DB2B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81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Attachment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B2F94A-D9A0-4152-9AB4-C862DAD7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290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2BF925-FAD7-4629-BB1E-9BD9300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81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Embedding/JVector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61BA29-486C-46FD-895B-BD2C067D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752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F3769D-C220-498D-BE99-908F208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治理与持久化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B48B23-DCED-490B-9DE2-3625687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053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6E4986-5E96-4A2F-9DD6-49662A2A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57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SQLite Store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5B5683-CA84-4C43-B6EE-957B8320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053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DF4DDF-CB56-4FCC-B919-5B272E0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ToolGuard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947E20-7544-4D55-8814-A57B45D9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47BEBF-0C82-42C9-934F-60E7D2DD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57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PendingAction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B412CE-E09F-4DE9-9EAE-94FEFD6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053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4B7CC4-0F01-4E11-BA65-ADC49A79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Runtime Interceptor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4E35F3-0E8A-4397-AB21-6D6B7AB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053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4ED566-E398-4AAF-B138-904EEC16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Auth/Device/Token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B7EFAD-C00A-49E2-A841-5A704D05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05350"/>
            <a:ext cx="12573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BD21C7-A303-4205-8B98-552F60A0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57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Audit/RateLimit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511FD4-3961-4ED6-A263-7DE712D5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关键设计：core / spi 不绑定 Spring；starter 负责装配；runtime 只依赖 Registry、SPI、工具、MCP、Skill、Channel 抽象。</a:t>
            </a:r>
          </a:p>
        </p:txBody>
      </p:sp>
    </p:spTree>
    <p:extLst>
      <p:ext uri="{BB962C8B-B14F-4D97-AF65-F5344CB8AC3E}">
        <p14:creationId xmlns:p14="http://schemas.microsoft.com/office/powerpoint/2010/main" val="394655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7C0F71-EF61-42E4-A97B-1180FF8F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573C6-D6FD-428A-B519-52CE0610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系统架构图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EF055-EFF6-47FB-9EEC-779C5152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围绕 Spring Boot Runtime 的入口、执行、扩展、治理、存储和模型生态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26FEC-EA76-4E8E-9124-8392F8AE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E44F2-2FA8-4F5B-889E-085E26C7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入口与通道">
            <a:extLst xmlns:a="http://schemas.openxmlformats.org/drawingml/2006/main">
              <a:ext uri="{FF2B5EF4-FFF2-40B4-BE49-F238E27FC236}">
                <a16:creationId xmlns:a16="http://schemas.microsoft.com/office/drawing/2014/main" id="{283798B7-E187-4112-9F4D-4A7AD1C6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809750" cy="3429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9B090-6A36-4410-983E-7036D279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6A1AA-0D88-4969-A2F3-5BCEEE5C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入口与通道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5924B-0B26-435B-A8C0-FAB3DF5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3525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Web Console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React Admin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App / CLI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飞书/钉钉/DDIO</a:t>
            </a:r>
          </a:p>
        </p:txBody>
      </p:sp>
      <p:sp>
        <p:nvSpPr>
          <p:cNvPr id="10" name="管理与治理">
            <a:extLst xmlns:a="http://schemas.openxmlformats.org/drawingml/2006/main">
              <a:ext uri="{FF2B5EF4-FFF2-40B4-BE49-F238E27FC236}">
                <a16:creationId xmlns:a16="http://schemas.microsoft.com/office/drawing/2014/main" id="{A53F12A3-7A42-4862-8E12-8319AE87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90650"/>
            <a:ext cx="1809750" cy="3429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1C5D4-FECC-4788-BE59-D84E9C76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906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595F6-CF74-4F2E-89D6-95F8FCE1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81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管理与治理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C6AE3-FAF6-4731-816B-C8B87073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81200"/>
            <a:ext cx="13525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Admin 配置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审批策略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Audit Log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统计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设备与角色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490CD-BAFD-40DA-95D9-479CED63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95400"/>
            <a:ext cx="657225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DB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5D2DA-E5C1-482B-9756-5722DF5A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95400"/>
            <a:ext cx="657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12116-321D-446A-B596-64D2E99F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43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 Server / Spring Boot</a:t>
            </a:r>
          </a:p>
        </p:txBody>
      </p:sp>
      <p:sp>
        <p:nvSpPr>
          <p:cNvPr id="17" name="API Layer">
            <a:extLst xmlns:a="http://schemas.openxmlformats.org/drawingml/2006/main">
              <a:ext uri="{FF2B5EF4-FFF2-40B4-BE49-F238E27FC236}">
                <a16:creationId xmlns:a16="http://schemas.microsoft.com/office/drawing/2014/main" id="{5FBDB201-60B6-4DDE-81D1-FF79703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38350"/>
            <a:ext cx="1543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B510E-1615-4A6B-8857-62568117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API Layer</a:t>
            </a:r>
          </a:p>
        </p:txBody>
      </p:sp>
      <p:sp>
        <p:nvSpPr>
          <p:cNvPr id="19" name="Channel Gateway">
            <a:extLst xmlns:a="http://schemas.openxmlformats.org/drawingml/2006/main">
              <a:ext uri="{FF2B5EF4-FFF2-40B4-BE49-F238E27FC236}">
                <a16:creationId xmlns:a16="http://schemas.microsoft.com/office/drawing/2014/main" id="{B80B5B45-F732-4738-AB58-A343C1B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1543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12429-A123-427B-BFF0-5927FC6E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Channel Gateway</a:t>
            </a:r>
          </a:p>
        </p:txBody>
      </p:sp>
      <p:sp>
        <p:nvSpPr>
          <p:cNvPr id="21" name="Admin Service">
            <a:extLst xmlns:a="http://schemas.openxmlformats.org/drawingml/2006/main">
              <a:ext uri="{FF2B5EF4-FFF2-40B4-BE49-F238E27FC236}">
                <a16:creationId xmlns:a16="http://schemas.microsoft.com/office/drawing/2014/main" id="{FDF328CB-B5BA-4E13-A2D0-27B547AD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38350"/>
            <a:ext cx="15430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F9CA6-BC22-4C6A-99FD-F99C28E9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336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Admin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D1127-C537-406C-B815-07EBB5C1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561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03B64-8CEB-4C20-8D28-666A8AA8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DefaultAgentRuntime</a:t>
            </a:r>
          </a:p>
        </p:txBody>
      </p:sp>
      <p:sp>
        <p:nvSpPr>
          <p:cNvPr id="25" name="Planner">
            <a:extLst xmlns:a="http://schemas.openxmlformats.org/drawingml/2006/main">
              <a:ext uri="{FF2B5EF4-FFF2-40B4-BE49-F238E27FC236}">
                <a16:creationId xmlns:a16="http://schemas.microsoft.com/office/drawing/2014/main" id="{C2D79A8C-BAEF-421F-8959-4DD7D4B4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390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CDCD2-157D-4894-8C3C-6C85AAA4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27" name="Session / Task">
            <a:extLst xmlns:a="http://schemas.openxmlformats.org/drawingml/2006/main">
              <a:ext uri="{FF2B5EF4-FFF2-40B4-BE49-F238E27FC236}">
                <a16:creationId xmlns:a16="http://schemas.microsoft.com/office/drawing/2014/main" id="{DDD1F41B-8AFB-4AE3-857E-F3007AB1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1390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ED030-1E68-415B-8632-D398C5FD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33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Session / Task</a:t>
            </a:r>
          </a:p>
        </p:txBody>
      </p:sp>
      <p:sp>
        <p:nvSpPr>
          <p:cNvPr id="29" name="SSE Event">
            <a:extLst xmlns:a="http://schemas.openxmlformats.org/drawingml/2006/main">
              <a:ext uri="{FF2B5EF4-FFF2-40B4-BE49-F238E27FC236}">
                <a16:creationId xmlns:a16="http://schemas.microsoft.com/office/drawing/2014/main" id="{5902193F-7588-4FA1-9B10-D1E7C85F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38500"/>
            <a:ext cx="1390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4DB81-53D4-4530-9A6F-A2A270F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SSE Event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1BF58-C682-4E62-8029-ED37B823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561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2" name="ToolRegistry">
            <a:extLst xmlns:a="http://schemas.openxmlformats.org/drawingml/2006/main">
              <a:ext uri="{FF2B5EF4-FFF2-40B4-BE49-F238E27FC236}">
                <a16:creationId xmlns:a16="http://schemas.microsoft.com/office/drawing/2014/main" id="{162610DE-B9C6-4047-8613-31CE7E9F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52900"/>
            <a:ext cx="1390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90243-7953-4B9E-8632-F9ED3C55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48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ToolRegistry</a:t>
            </a:r>
          </a:p>
        </p:txBody>
      </p:sp>
      <p:sp>
        <p:nvSpPr>
          <p:cNvPr id="34" name="ToolGuard">
            <a:extLst xmlns:a="http://schemas.openxmlformats.org/drawingml/2006/main">
              <a:ext uri="{FF2B5EF4-FFF2-40B4-BE49-F238E27FC236}">
                <a16:creationId xmlns:a16="http://schemas.microsoft.com/office/drawing/2014/main" id="{BB4DDF6E-4371-4C9D-85DB-83D002E2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1390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CE562-48A0-491C-B52A-8220107A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48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ToolGuard</a:t>
            </a:r>
          </a:p>
        </p:txBody>
      </p:sp>
      <p:sp>
        <p:nvSpPr>
          <p:cNvPr id="36" name="Interceptor">
            <a:extLst xmlns:a="http://schemas.openxmlformats.org/drawingml/2006/main">
              <a:ext uri="{FF2B5EF4-FFF2-40B4-BE49-F238E27FC236}">
                <a16:creationId xmlns:a16="http://schemas.microsoft.com/office/drawing/2014/main" id="{7D23F024-03E7-4C30-8DAC-6D273766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52900"/>
            <a:ext cx="1390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FCF23E-0469-4D89-B5EC-59B2982C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48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Interceptor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2949BD-4744-4394-886D-5BAD8968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8394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0144C2-02EC-4A8F-83B9-2AD96DD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839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E37D8B-2DF7-4749-8C60-7C6BC170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数据、模型与扩展生态</a:t>
            </a:r>
          </a:p>
        </p:txBody>
      </p:sp>
      <p:sp>
        <p:nvSpPr>
          <p:cNvPr id="41" name="SQLite">
            <a:extLst xmlns:a="http://schemas.openxmlformats.org/drawingml/2006/main">
              <a:ext uri="{FF2B5EF4-FFF2-40B4-BE49-F238E27FC236}">
                <a16:creationId xmlns:a16="http://schemas.microsoft.com/office/drawing/2014/main" id="{F496C62F-360E-4F55-B319-DC55EAB2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16002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97EDFA-D682-4AF2-8E22-414DD3EF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</p:txBody>
      </p:sp>
      <p:sp>
        <p:nvSpPr>
          <p:cNvPr id="43" name="Memory / JVector">
            <a:extLst xmlns:a="http://schemas.openxmlformats.org/drawingml/2006/main">
              <a:ext uri="{FF2B5EF4-FFF2-40B4-BE49-F238E27FC236}">
                <a16:creationId xmlns:a16="http://schemas.microsoft.com/office/drawing/2014/main" id="{783462B8-2240-4762-ACF4-835AFDFA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76900"/>
            <a:ext cx="16002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55C186-84B0-4FAE-8516-8D8F08A3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7721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Memory / JVector</a:t>
            </a:r>
          </a:p>
        </p:txBody>
      </p:sp>
      <p:sp>
        <p:nvSpPr>
          <p:cNvPr id="45" name="Workspace">
            <a:extLst xmlns:a="http://schemas.openxmlformats.org/drawingml/2006/main">
              <a:ext uri="{FF2B5EF4-FFF2-40B4-BE49-F238E27FC236}">
                <a16:creationId xmlns:a16="http://schemas.microsoft.com/office/drawing/2014/main" id="{0C08DC72-E64B-4A54-B864-0FEB5EF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76900"/>
            <a:ext cx="16002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8EA7D6-8BE1-4453-ACD6-9571FB9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721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Workspace</a:t>
            </a:r>
          </a:p>
        </p:txBody>
      </p:sp>
      <p:sp>
        <p:nvSpPr>
          <p:cNvPr id="47" name="OpenAI-compatible">
            <a:extLst xmlns:a="http://schemas.openxmlformats.org/drawingml/2006/main">
              <a:ext uri="{FF2B5EF4-FFF2-40B4-BE49-F238E27FC236}">
                <a16:creationId xmlns:a16="http://schemas.microsoft.com/office/drawing/2014/main" id="{76459AD0-7B7A-4BB4-B670-F491EBB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76900"/>
            <a:ext cx="16002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67AA00-1458-48DB-8C42-5465688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7721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OpenAI-compatible</a:t>
            </a:r>
          </a:p>
        </p:txBody>
      </p:sp>
      <p:sp>
        <p:nvSpPr>
          <p:cNvPr id="49" name="MCP / Skills">
            <a:extLst xmlns:a="http://schemas.openxmlformats.org/drawingml/2006/main">
              <a:ext uri="{FF2B5EF4-FFF2-40B4-BE49-F238E27FC236}">
                <a16:creationId xmlns:a16="http://schemas.microsoft.com/office/drawing/2014/main" id="{E61C55B2-6208-4C51-815B-8F326347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676900"/>
            <a:ext cx="16002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8F05C7-FC2F-47FA-AAB5-E44C5F6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7721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 / Skills</a:t>
            </a:r>
          </a:p>
        </p:txBody>
      </p:sp>
    </p:spTree>
    <p:extLst>
      <p:ext uri="{BB962C8B-B14F-4D97-AF65-F5344CB8AC3E}">
        <p14:creationId xmlns:p14="http://schemas.microsoft.com/office/powerpoint/2010/main" val="9296825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F07846-461B-48C1-B08D-88B3D6C3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3A8AB-45C1-4EC8-8C0C-D59123E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任务执行链路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B485E-B198-45F3-AA0E-24373B63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默认 ReAct 主链路，同时兼容简单问答和原生 Tool Calling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773D3-CA88-4644-AE42-8E4A298A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C841D-FDBA-47D6-AF33-D1750BD9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32102-3B1D-4739-99B1-70860EAC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5D605-19EA-4D95-B386-EA408B5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B72C4-A318-4801-A6A4-58DC2805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E71E9-E31B-458C-B1A5-47AEE390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接收请求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02E41-83E0-4FCD-9DAF-6E3CDC2E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REST / UI / Channel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携带 user、device、session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DD8A3-BEE5-47EF-884B-44564327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1BF8D-3066-449B-84D4-5C5EDBE5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8D746-1610-4646-A682-09AB0C3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DB352-B9B5-4DAD-82ED-10050C9F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43904-1775-4815-ABF5-39282A49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策略前置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8DE7C-702A-4D07-B992-E448DCBD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身份、RateLimit、系统意图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PendingAction 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DDBB1-FB9C-46ED-8EDE-43A872D2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571AC-10C3-4CF6-82E0-42F8507B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51802-E703-4852-B8BC-FC41EBFB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890F3-F194-49CD-9369-BCDBD457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5CF4A-BF1B-42A8-BCBD-A5C17C2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规划执行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BCB27-B9B0-4E5C-91E8-7540392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ReAct / Tool Calling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生成 Todo 与工具调用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9F3BD-54A6-4082-BD3D-06F205C4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0B91F-3EC2-4C00-B7C6-83D69D0C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D1AB2-948F-47BB-ADAD-D97157C2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9EF6C-9941-4DDA-9B7E-10FAAA97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45AB9-B2D6-4978-A74E-262793AE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工具治理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D3969-B2FB-45C5-ADB7-C0C8A7DA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ToolGuard 风险判断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审批、隔离、审计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46EAF-EE8B-4EDB-926F-1E28CF0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FD605-D5F2-430F-BF06-8130B00F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F0F0A4-ECAA-40C7-A5A6-5AA4BCD5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02367-9C5F-4052-B758-2B90C1DA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E5C56-327B-482E-8FBD-430B9154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观察与续跑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410BC2-4213-478B-8CC9-0991F46D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保存 step/event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失败可 checkpoint/resume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29B091-ED04-4E6E-9ABF-4EB5E42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82686B-29FA-4906-AB77-C86969F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1D4475-DC94-4D49-8E54-84F5F0D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3E810-917F-43CE-A0CD-14BEBDE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14213E-27F4-49FA-868B-232C0513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最终回复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E3BD11-16E3-4D8F-8FA8-5708D900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流式 llm.delta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和审计聚合</a:t>
            </a:r>
          </a:p>
        </p:txBody>
      </p:sp>
      <p:sp>
        <p:nvSpPr>
          <p:cNvPr id="41" name="为什么默认 ReAct">
            <a:extLst xmlns:a="http://schemas.openxmlformats.org/drawingml/2006/main">
              <a:ext uri="{FF2B5EF4-FFF2-40B4-BE49-F238E27FC236}">
                <a16:creationId xmlns:a16="http://schemas.microsoft.com/office/drawing/2014/main" id="{A4DE68DD-CF50-4252-932E-079AFF2F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E298FA-B7BB-4907-96B1-7240150B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114130-06EA-4DEF-A6DE-65A43F06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为什么默认 ReAct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CD508-4C1F-4898-BEE1-37C65A24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用户输入不可预测，ReAct 能先思考、再调用工具、再观察结果并继续决策，适合复杂任务和多工具链路。</a:t>
            </a:r>
          </a:p>
        </p:txBody>
      </p:sp>
      <p:sp>
        <p:nvSpPr>
          <p:cNvPr id="45" name="如何兼容 single / tool-calling">
            <a:extLst xmlns:a="http://schemas.openxmlformats.org/drawingml/2006/main">
              <a:ext uri="{FF2B5EF4-FFF2-40B4-BE49-F238E27FC236}">
                <a16:creationId xmlns:a16="http://schemas.microsoft.com/office/drawing/2014/main" id="{5160F73A-834E-4E08-AE06-9E64216E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068174-2355-4B5C-8358-C988238D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DBE895-8FF7-4A8C-801B-B35D4B90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如何兼容 single / tool-calling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F69F2B-0DF6-40C5-A426-1C1C8D8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简单意图可走一次模型或直接工具；模型支持原生 tool_calls 时走 Tool Calling；复杂任务仍回到 ReAct。</a:t>
            </a:r>
          </a:p>
        </p:txBody>
      </p:sp>
    </p:spTree>
    <p:extLst>
      <p:ext uri="{BB962C8B-B14F-4D97-AF65-F5344CB8AC3E}">
        <p14:creationId xmlns:p14="http://schemas.microsoft.com/office/powerpoint/2010/main" val="16705524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3FC8A0-89C8-4DE9-B0FB-36E41824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70D4E-D37C-43AB-96B8-0872D166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新增业务功能总览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07DDB-23EC-4AF6-9095-4FD57BE2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从“能跑 Agent”升级到“能管、能审、能自动化、能接入业务”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A875C-086C-4252-91FB-92B8FF16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07F45-FF6B-442D-B39F-CF5A052A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Plan 计划模式">
            <a:extLst xmlns:a="http://schemas.openxmlformats.org/drawingml/2006/main">
              <a:ext uri="{FF2B5EF4-FFF2-40B4-BE49-F238E27FC236}">
                <a16:creationId xmlns:a16="http://schemas.microsoft.com/office/drawing/2014/main" id="{C82DA6AB-C130-4C90-9D4A-30674B14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ABB19-68A7-40FC-99D2-6B6D58D7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D7EA1-2C22-4F6D-B384-5DEADC47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 计划模式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0180D-28C3-4D46-BDFD-20AFB378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先生成计划，再修订、确认、执行；支持模板和差异摘要。</a:t>
            </a:r>
          </a:p>
        </p:txBody>
      </p:sp>
      <p:sp>
        <p:nvSpPr>
          <p:cNvPr id="10" name="自动化任务">
            <a:extLst xmlns:a="http://schemas.openxmlformats.org/drawingml/2006/main">
              <a:ext uri="{FF2B5EF4-FFF2-40B4-BE49-F238E27FC236}">
                <a16:creationId xmlns:a16="http://schemas.microsoft.com/office/drawing/2014/main" id="{C38C29B7-0CB9-4C7E-B2CD-26A9EBAF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ABAED-BEB7-407B-BB37-A3981CA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B79CD-F19A-40A8-9803-C38EE1EC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自动化任务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CC933-388B-4CE5-842C-662E8D6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固定间隔、Cron、单次执行、立即运行、重试退避和历史记录。</a:t>
            </a:r>
          </a:p>
        </p:txBody>
      </p:sp>
      <p:sp>
        <p:nvSpPr>
          <p:cNvPr id="14" name="通道与附件">
            <a:extLst xmlns:a="http://schemas.openxmlformats.org/drawingml/2006/main">
              <a:ext uri="{FF2B5EF4-FFF2-40B4-BE49-F238E27FC236}">
                <a16:creationId xmlns:a16="http://schemas.microsoft.com/office/drawing/2014/main" id="{674437B1-3FC8-4F26-BD17-DC61D9B8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D6791-A0F8-4851-8B0A-E5A4019E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3279D-BD37-4B3D-AFB3-6C1DF255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通道与附件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6D8B6-29AA-4246-A26D-9AD651FC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飞书/钉钉/DDIO，媒体缓存、附件解析、富文本摘要。</a:t>
            </a:r>
          </a:p>
        </p:txBody>
      </p:sp>
      <p:sp>
        <p:nvSpPr>
          <p:cNvPr id="18" name="身份与权限">
            <a:extLst xmlns:a="http://schemas.openxmlformats.org/drawingml/2006/main">
              <a:ext uri="{FF2B5EF4-FFF2-40B4-BE49-F238E27FC236}">
                <a16:creationId xmlns:a16="http://schemas.microsoft.com/office/drawing/2014/main" id="{34213B52-B374-4170-8A68-644AF4B3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CEAD7-8DA2-46EB-87A4-9FFB7594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6BCFE-4437-4C4B-BE70-6F5FEC3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身份与权限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B0593-E37A-4EDB-B7C7-BC2AB545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本地用户、API Token、设备配对、通道绑定、角色策略。</a:t>
            </a:r>
          </a:p>
        </p:txBody>
      </p:sp>
      <p:sp>
        <p:nvSpPr>
          <p:cNvPr id="22" name="Worker/SubAgent">
            <a:extLst xmlns:a="http://schemas.openxmlformats.org/drawingml/2006/main">
              <a:ext uri="{FF2B5EF4-FFF2-40B4-BE49-F238E27FC236}">
                <a16:creationId xmlns:a16="http://schemas.microsoft.com/office/drawing/2014/main" id="{6BDCFF1B-3CDF-49FE-82C8-5E3AEE9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A8268-CE21-479C-A98D-28131113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6E396-4BD4-4502-A181-D74219ED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05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Worker/SubAgent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F3E28-E591-4E7D-9AE0-883589E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高危命令独立 JVM 隔离，子 Agent 单个/批量/并行派发。</a:t>
            </a:r>
          </a:p>
        </p:txBody>
      </p:sp>
      <p:sp>
        <p:nvSpPr>
          <p:cNvPr id="26" name="MCP/Skill 生态">
            <a:extLst xmlns:a="http://schemas.openxmlformats.org/drawingml/2006/main">
              <a:ext uri="{FF2B5EF4-FFF2-40B4-BE49-F238E27FC236}">
                <a16:creationId xmlns:a16="http://schemas.microsoft.com/office/drawing/2014/main" id="{DC213E91-5632-4BED-9A8A-0F36E144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FF5B5-293A-41C2-A2E6-B29E2BB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556C1-25AE-4CD3-AE4A-58BA8561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05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MCP/Skill 生态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FFE51-6C97-42E4-8D44-853AAE23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STDIO/HTTP/SSE MCP，Skill 安装启停和多执行器。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6CD4E-6CD2-43F5-89F1-7F0206A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业务价值：降低接入成本、把高危动作纳入审批和隔离、让 IM/桌面/后台任务共享同一套 Runtime。</a:t>
            </a:r>
          </a:p>
        </p:txBody>
      </p:sp>
    </p:spTree>
    <p:extLst>
      <p:ext uri="{BB962C8B-B14F-4D97-AF65-F5344CB8AC3E}">
        <p14:creationId xmlns:p14="http://schemas.microsoft.com/office/powerpoint/2010/main" val="8080621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63E860-4C11-46DF-8C6C-C7B5E22F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E3C99-38EE-4D21-BF93-653D063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 计划模式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67787-D1B4-406B-BD7D-5938069B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适合复杂需求：先计划、可修改、再执行，而不是直接开跑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9EA6A-40B7-4140-9338-448E17EE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26166-EBE2-49D5-8234-488B9891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需求输入">
            <a:extLst xmlns:a="http://schemas.openxmlformats.org/drawingml/2006/main">
              <a:ext uri="{FF2B5EF4-FFF2-40B4-BE49-F238E27FC236}">
                <a16:creationId xmlns:a16="http://schemas.microsoft.com/office/drawing/2014/main" id="{399D8390-1248-4DAA-A76E-4BBC495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04271-8B36-48E1-B788-EEEFC93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需求输入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8694F-E953-4E0C-B0D7-5943519D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9" name="生成 PlanDraft">
            <a:extLst xmlns:a="http://schemas.openxmlformats.org/drawingml/2006/main">
              <a:ext uri="{FF2B5EF4-FFF2-40B4-BE49-F238E27FC236}">
                <a16:creationId xmlns:a16="http://schemas.microsoft.com/office/drawing/2014/main" id="{FB9E03B9-000A-4E27-80D7-33FF755C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0456C-8CAE-45A5-A860-05A7988B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生成 PlanDraft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E767C-2226-432A-A453-3569CF2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用户修订/确认">
            <a:extLst xmlns:a="http://schemas.openxmlformats.org/drawingml/2006/main">
              <a:ext uri="{FF2B5EF4-FFF2-40B4-BE49-F238E27FC236}">
                <a16:creationId xmlns:a16="http://schemas.microsoft.com/office/drawing/2014/main" id="{65498E43-D2D5-4562-ADA9-CEADCC7A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C858B-6A80-4381-A6CC-3A4A1F0C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用户修订/确认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FBA80-23D8-40CE-8806-23583A2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转换 Todo">
            <a:extLst xmlns:a="http://schemas.openxmlformats.org/drawingml/2006/main">
              <a:ext uri="{FF2B5EF4-FFF2-40B4-BE49-F238E27FC236}">
                <a16:creationId xmlns:a16="http://schemas.microsoft.com/office/drawing/2014/main" id="{0EB5BF95-3E99-4598-B347-DAF8618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2DAB0-7E7C-4560-AC89-E576D46B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转换 Todo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1461F-8648-4DF5-9B71-6B8C8B98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执行 SSE">
            <a:extLst xmlns:a="http://schemas.openxmlformats.org/drawingml/2006/main">
              <a:ext uri="{FF2B5EF4-FFF2-40B4-BE49-F238E27FC236}">
                <a16:creationId xmlns:a16="http://schemas.microsoft.com/office/drawing/2014/main" id="{82CD67C1-A991-4227-89E6-6495BBE3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5314F-6A6F-44CB-A509-AD2831C2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执行 SSE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DF449-58F9-4D0E-8CAB-409C43E1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1" name="审计差异">
            <a:extLst xmlns:a="http://schemas.openxmlformats.org/drawingml/2006/main">
              <a:ext uri="{FF2B5EF4-FFF2-40B4-BE49-F238E27FC236}">
                <a16:creationId xmlns:a16="http://schemas.microsoft.com/office/drawing/2014/main" id="{66906D4E-8B9A-441C-BD93-73B7506A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83A74-0903-4976-B8C4-F1778578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审计差异</a:t>
            </a:r>
          </a:p>
        </p:txBody>
      </p:sp>
      <p:sp>
        <p:nvSpPr>
          <p:cNvPr id="23" name="已经具备">
            <a:extLst xmlns:a="http://schemas.openxmlformats.org/drawingml/2006/main">
              <a:ext uri="{FF2B5EF4-FFF2-40B4-BE49-F238E27FC236}">
                <a16:creationId xmlns:a16="http://schemas.microsoft.com/office/drawing/2014/main" id="{D4C0568E-8588-4CC2-B7AB-92BCF2A5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257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80AAD-CFBC-405B-98A4-ED690D4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D095F6-42F6-453B-B1FE-7285B5C3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84D72-71D1-4BEC-873C-1304D727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PlanDraft / PlanItem / PlanStore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agent_plan 持久化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生成、修订、确认、取消、执行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内置 local-dev / bugfix 等模板</a:t>
            </a:r>
          </a:p>
        </p:txBody>
      </p:sp>
      <p:sp>
        <p:nvSpPr>
          <p:cNvPr id="27" name="前端体验">
            <a:extLst xmlns:a="http://schemas.openxmlformats.org/drawingml/2006/main">
              <a:ext uri="{FF2B5EF4-FFF2-40B4-BE49-F238E27FC236}">
                <a16:creationId xmlns:a16="http://schemas.microsoft.com/office/drawing/2014/main" id="{51A7E96B-F7E0-41EE-B867-CB688C7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3257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71800-0B23-4096-B173-9B5DFE1F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7EF37-9BD7-4766-A9D7-F0A05E66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前端体验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7B9BD-AC47-4B59-93A6-F0854DB5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Admin/App 支持计划开关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/plan 指令直接创建计划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计划卡片展示版本差异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执行阻塞时可修订后继续</a:t>
            </a:r>
          </a:p>
        </p:txBody>
      </p:sp>
      <p:sp>
        <p:nvSpPr>
          <p:cNvPr id="31" name="设计边界">
            <a:extLst xmlns:a="http://schemas.openxmlformats.org/drawingml/2006/main">
              <a:ext uri="{FF2B5EF4-FFF2-40B4-BE49-F238E27FC236}">
                <a16:creationId xmlns:a16="http://schemas.microsoft.com/office/drawing/2014/main" id="{00489309-A9B4-4C1D-B26F-0781E3DD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257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826925-FA8A-4727-AC54-9E68BF39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2CFA7A-785A-493B-83BB-215B18C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设计边界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760C6D-DAB3-40A3-97F9-1947C3F4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不另造第二套执行引擎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确认后复用 Runtime/Todo/ToolGuard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高危步骤仍走审批和隔离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后续优化自动重规划策略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17BA19-545D-4FEF-AEE6-5225B297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Plan API / 当前完成情况。</a:t>
            </a:r>
          </a:p>
        </p:txBody>
      </p:sp>
    </p:spTree>
    <p:extLst>
      <p:ext uri="{BB962C8B-B14F-4D97-AF65-F5344CB8AC3E}">
        <p14:creationId xmlns:p14="http://schemas.microsoft.com/office/powerpoint/2010/main" val="6381462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774A1-568F-438A-9DE1-0E1591A6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80445-B60A-457E-A76D-0176B451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智能体自动化任务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85AC1-292A-4245-B6A6-FE5B2088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把一次性 Agent 调用扩展成可运维的周期任务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95A3C-BB6A-475B-B04A-1EB69E4A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26114-B44C-4428-BD96-71653BF7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调度能力">
            <a:extLst xmlns:a="http://schemas.openxmlformats.org/drawingml/2006/main">
              <a:ext uri="{FF2B5EF4-FFF2-40B4-BE49-F238E27FC236}">
                <a16:creationId xmlns:a16="http://schemas.microsoft.com/office/drawing/2014/main" id="{31DD18B6-69F0-4D93-821D-504D72DC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E9058-E27E-42E7-B5A3-21C60295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AB5B9-D047-4D23-987E-F1B361D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调度能力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C2FBD-82EB-4FEF-B654-185DAD9E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7336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固定间隔执行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Cron 表达式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单次计划任务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立即运行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启用/暂停/编辑</a:t>
            </a:r>
          </a:p>
        </p:txBody>
      </p:sp>
      <p:sp>
        <p:nvSpPr>
          <p:cNvPr id="10" name="失败治理">
            <a:extLst xmlns:a="http://schemas.openxmlformats.org/drawingml/2006/main">
              <a:ext uri="{FF2B5EF4-FFF2-40B4-BE49-F238E27FC236}">
                <a16:creationId xmlns:a16="http://schemas.microsoft.com/office/drawing/2014/main" id="{EB8CBFA5-5A57-4D62-8514-97A560A3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097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324D6-79E4-49BF-8297-3C4B36AA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097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6A11B-0DDD-488C-93E5-45A9585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002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失败治理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88DAD-DBAC-4BE2-91DF-D5538F71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27336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失败重试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退避策略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重试耗尽后暂停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运行历史保留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异常链路可追踪</a:t>
            </a:r>
          </a:p>
        </p:txBody>
      </p:sp>
      <p:sp>
        <p:nvSpPr>
          <p:cNvPr id="14" name="运营指标">
            <a:extLst xmlns:a="http://schemas.openxmlformats.org/drawingml/2006/main">
              <a:ext uri="{FF2B5EF4-FFF2-40B4-BE49-F238E27FC236}">
                <a16:creationId xmlns:a16="http://schemas.microsoft.com/office/drawing/2014/main" id="{77735100-4954-4D4C-965E-73AB22BB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0B905-BEFA-4CED-8F4B-607250AF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F41B1-8915-49A9-AD6E-5F6963D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002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运营指标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FB27B-8648-4C97-90FF-950656F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336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耗时聚合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工具链路聚合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管理台页面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适合巡检/日报/同步任务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BC2C0-0867-4391-826B-AD64985A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典型场景：每天巡检接口状态、定时总结群消息、定期扫描项目文档、失败后自动重试并保留审计记录。</a:t>
            </a:r>
          </a:p>
        </p:txBody>
      </p:sp>
    </p:spTree>
    <p:extLst>
      <p:ext uri="{BB962C8B-B14F-4D97-AF65-F5344CB8AC3E}">
        <p14:creationId xmlns:p14="http://schemas.microsoft.com/office/powerpoint/2010/main" val="11928014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DE65A-9C32-447A-907A-FC6C12CF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82DF3-9E54-4114-88E6-42833FD7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通道、附件与知识库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7FD3D-4AF0-4F8A-B0A5-60AE6977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 IM 消息、文件和本地知识进入同一条 Agent 执行链路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F1060-E4CE-46BD-9A5D-AD52A900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14F47-C7EB-4EA1-9991-98031A5F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通道入口">
            <a:extLst xmlns:a="http://schemas.openxmlformats.org/drawingml/2006/main">
              <a:ext uri="{FF2B5EF4-FFF2-40B4-BE49-F238E27FC236}">
                <a16:creationId xmlns:a16="http://schemas.microsoft.com/office/drawing/2014/main" id="{00B220ED-CE7E-49B0-8093-66D91569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126E7-026A-4421-BCFE-1EBB7AEA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C5F5-11E2-4BA9-9C6A-2D66D8B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通道入口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6C35-5A57-4FA9-963A-A12B7ABD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飞书、钉钉、DDIO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HTTP / Stream / Bot 标准事件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Channel 外部用户绑定本地用户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事件语义 metadata</a:t>
            </a:r>
          </a:p>
        </p:txBody>
      </p:sp>
      <p:sp>
        <p:nvSpPr>
          <p:cNvPr id="10" name="媒体与附件">
            <a:extLst xmlns:a="http://schemas.openxmlformats.org/drawingml/2006/main">
              <a:ext uri="{FF2B5EF4-FFF2-40B4-BE49-F238E27FC236}">
                <a16:creationId xmlns:a16="http://schemas.microsoft.com/office/drawing/2014/main" id="{A5AF787F-A576-49DD-AA9A-FFE72213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525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A7725-CAE1-42D6-BA81-5A136E44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525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74CC4-FF0D-4FFD-8F1C-07F1EEBF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4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媒体与附件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068A4-029F-4A28-AA77-EC2A32E6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431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媒体 URL / 大小 / 超时限制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钉钉 downloadCode 下载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附件存在标记与下载状态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富文本统一 Markdown 摘要</a:t>
            </a:r>
          </a:p>
        </p:txBody>
      </p:sp>
      <p:sp>
        <p:nvSpPr>
          <p:cNvPr id="14" name="知识与记忆">
            <a:extLst xmlns:a="http://schemas.openxmlformats.org/drawingml/2006/main">
              <a:ext uri="{FF2B5EF4-FFF2-40B4-BE49-F238E27FC236}">
                <a16:creationId xmlns:a16="http://schemas.microsoft.com/office/drawing/2014/main" id="{1EA1754D-9F65-4F12-8523-F681A1B4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A0219-3B22-4170-98D9-6F1B5F24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2B85C-72CC-4FFC-B3FA-DBC52AC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4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知识与记忆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F7661-70AB-4891-9529-2EC6BAB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AttachmentService 写入知识库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KnowledgeService 补充上下文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FTS5 + JVector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命中记录和候选审核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DA281-281C-4F06-B256-CF3A711F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29050"/>
            <a:ext cx="971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4A8CE-342E-4E04-90C7-76297B7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处理路径：通道消息 -&gt; ChannelRouter -&gt; PendingAction / 系统意图 -&gt; 附件解析与知识检索 -&gt; AgentRuntime -&gt; 回复到原通道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1B570-989A-4479-8BD3-B20B0E50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通道、系统意图、附件与知识库说明；CONFIGURATION 文档。</a:t>
            </a:r>
          </a:p>
        </p:txBody>
      </p:sp>
    </p:spTree>
    <p:extLst>
      <p:ext uri="{BB962C8B-B14F-4D97-AF65-F5344CB8AC3E}">
        <p14:creationId xmlns:p14="http://schemas.microsoft.com/office/powerpoint/2010/main" val="8426694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0B566-BEBF-4AD2-A63A-B22E7E7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BECFA-D401-40C1-9FD0-98FECB0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MCP、Skill 与 Toolkit 生态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0B79F-C2CA-4BFE-A185-C5A2267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统一注册到 AgentToolRegistry，业务工具和外部工具同一套治理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E0D30-D152-4197-A711-A85C0B93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C587F-B7B6-4B14-B4F2-0C93627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MCP">
            <a:extLst xmlns:a="http://schemas.openxmlformats.org/drawingml/2006/main">
              <a:ext uri="{FF2B5EF4-FFF2-40B4-BE49-F238E27FC236}">
                <a16:creationId xmlns:a16="http://schemas.microsoft.com/office/drawing/2014/main" id="{19BBA9DA-8E91-4681-8C20-8A9F93FE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21208-9F17-45FC-A5E4-2F3F278B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F42F3-9560-4449-8638-797790F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6027A-8AAB-49E0-BBF9-07EB8122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781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STDIO 启动、握手、tools/list、tools/call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HTTP / streamableHttp JSON-RPC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SSE endpoint/message 兼容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resources/prompts 查询读取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autoApprove 通配规则</a:t>
            </a:r>
          </a:p>
        </p:txBody>
      </p:sp>
      <p:sp>
        <p:nvSpPr>
          <p:cNvPr id="10" name="Skill">
            <a:extLst xmlns:a="http://schemas.openxmlformats.org/drawingml/2006/main">
              <a:ext uri="{FF2B5EF4-FFF2-40B4-BE49-F238E27FC236}">
                <a16:creationId xmlns:a16="http://schemas.microsoft.com/office/drawing/2014/main" id="{4195313D-60A4-4246-8196-EADF981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9516B-6C34-4883-92E5-576EEEF9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A9BE0-348F-4B69-984A-482BAEDA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8E114-0162-4EE9-A539-13C02DF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81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本地安装、启用、禁用、列表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manifest 保存到 .clawagent/skills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document / http / script / java 执行器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权限声明校验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系统 Skill: create/install</a:t>
            </a:r>
          </a:p>
        </p:txBody>
      </p:sp>
      <p:sp>
        <p:nvSpPr>
          <p:cNvPr id="14" name="Toolkit">
            <a:extLst xmlns:a="http://schemas.openxmlformats.org/drawingml/2006/main">
              <a:ext uri="{FF2B5EF4-FFF2-40B4-BE49-F238E27FC236}">
                <a16:creationId xmlns:a16="http://schemas.microsoft.com/office/drawing/2014/main" id="{BCE34E91-C2C1-43F8-A0C8-49F2F2C7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44E79-81E7-4647-99BF-87FCC7A5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3EFD6-5F6A-488F-8250-560697C2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A8AB3-4356-40EB-9673-1F4AD9A2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781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time / weather / web.fetch / web.search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filesystem 读、列、搜、信息、受控写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execute 与 process.start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业务 AgentTool Bean 自动发现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高危工具接入 ToolGuard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A32B2-73AD-4C9A-B73B-B589811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落地重点：不是把工具分散在不同插件里，而是统一注册、统一审批、统一审计、统一事件流。</a:t>
            </a:r>
          </a:p>
        </p:txBody>
      </p:sp>
    </p:spTree>
    <p:extLst>
      <p:ext uri="{BB962C8B-B14F-4D97-AF65-F5344CB8AC3E}">
        <p14:creationId xmlns:p14="http://schemas.microsoft.com/office/powerpoint/2010/main" val="6742253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E174B-919F-4BD6-8A38-298B542D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6623C-D53E-4E24-A132-C1F74EC8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身份、权限与审批治理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423F6-0459-4683-90E0-7CD6BF7B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从单机 Demo 走向可管可审的本地企业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E3026-FBF5-4D24-9D9C-C19DE22A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69D1F-13BA-46D1-9741-BE73C7C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身份体系">
            <a:extLst xmlns:a="http://schemas.openxmlformats.org/drawingml/2006/main">
              <a:ext uri="{FF2B5EF4-FFF2-40B4-BE49-F238E27FC236}">
                <a16:creationId xmlns:a16="http://schemas.microsoft.com/office/drawing/2014/main" id="{B8AA6B39-07F0-47EF-84D1-35214A93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7B90D-1BB9-42BF-9357-D03EE7CA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67569-BA94-4347-A448-62AA7CB2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身份体系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76160-460A-4534-9944-69B21540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 owner 初始化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用户登录/退出/会话撤销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API Token owner/scope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当前用户注入任务 userId</a:t>
            </a:r>
          </a:p>
        </p:txBody>
      </p:sp>
      <p:sp>
        <p:nvSpPr>
          <p:cNvPr id="10" name="设备与通道">
            <a:extLst xmlns:a="http://schemas.openxmlformats.org/drawingml/2006/main">
              <a:ext uri="{FF2B5EF4-FFF2-40B4-BE49-F238E27FC236}">
                <a16:creationId xmlns:a16="http://schemas.microsoft.com/office/drawing/2014/main" id="{3C1F2ACE-85A7-4E6A-8B39-871E55DD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9E03B-4939-4A74-BE06-94EFC8F7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A9D79-B3D7-43C8-81B5-F726415F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设备与通道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443FF-AC1F-4415-9A39-5088D659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设备配对、密钥校验、心跳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设备用户绑定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Channel 外部用户绑定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Token/User/Device/Channel 合并</a:t>
            </a:r>
          </a:p>
        </p:txBody>
      </p:sp>
      <p:sp>
        <p:nvSpPr>
          <p:cNvPr id="14" name="审批与策略">
            <a:extLst xmlns:a="http://schemas.openxmlformats.org/drawingml/2006/main">
              <a:ext uri="{FF2B5EF4-FFF2-40B4-BE49-F238E27FC236}">
                <a16:creationId xmlns:a16="http://schemas.microsoft.com/office/drawing/2014/main" id="{33E6D79E-6EEF-4941-A8E6-7D11C6FF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D59DC-53CF-49B5-9CEE-3D8C33AB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DC9D4-5243-413F-832B-188AC119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审批与策略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D7042-E67D-4D19-B97C-3DF99F9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PendingAction 三类确认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高危工具完整确认文本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角色策略默认审批模式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Agent 子任务工具边界</a:t>
            </a:r>
          </a:p>
        </p:txBody>
      </p:sp>
      <p:sp>
        <p:nvSpPr>
          <p:cNvPr id="18" name="入口保护">
            <a:extLst xmlns:a="http://schemas.openxmlformats.org/drawingml/2006/main">
              <a:ext uri="{FF2B5EF4-FFF2-40B4-BE49-F238E27FC236}">
                <a16:creationId xmlns:a16="http://schemas.microsoft.com/office/drawing/2014/main" id="{5DC51472-0C88-4FFC-A2A6-E767C8EC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733EF-675C-4D0C-9E9F-499D6854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294A8-A4FB-434E-8801-AB5C1C6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入口保护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EA314-5D7B-4074-8B87-AE1CFE1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单机固定窗口 Rate Limit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 Token/User/Device/IP 分桶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Prompt Injection Defense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SensitiveDataInterceptor 脱敏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A47FA-64E2-4AEC-BAAB-BB7CB1B4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当前完成情况、权限治理、通道 Channel 说明。</a:t>
            </a:r>
          </a:p>
        </p:txBody>
      </p:sp>
    </p:spTree>
    <p:extLst>
      <p:ext uri="{BB962C8B-B14F-4D97-AF65-F5344CB8AC3E}">
        <p14:creationId xmlns:p14="http://schemas.microsoft.com/office/powerpoint/2010/main" val="16307693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AE2A9-9DDA-482E-8872-B13D515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9D29A-600E-489E-9B5E-14E37D0D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Worker 与 SubAgent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C37BD-0F0E-4438-B861-6252F6D9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把高危执行和并行子任务从主 Runtime 中隔离出来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CD3A6-8148-4F0C-AB28-3922F74E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92023-5FB6-4A9F-A54A-FCE0542C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高危命令 Worker">
            <a:extLst xmlns:a="http://schemas.openxmlformats.org/drawingml/2006/main">
              <a:ext uri="{FF2B5EF4-FFF2-40B4-BE49-F238E27FC236}">
                <a16:creationId xmlns:a16="http://schemas.microsoft.com/office/drawing/2014/main" id="{57E77993-3D28-4AC3-A3C1-EFCD1C59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238500" cy="34480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FECA6-108C-4516-8096-C6691CE6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C1CBD-D90C-422E-A401-5E51596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高危命令 Worker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905BB-40AA-42BF-AD62-B044D28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7813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execute high risk 才启用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独立 JVM worker 进程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超时强杀、输出上限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JVM heap / CPU 时间限制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主服务侧 worker 并发池</a:t>
            </a:r>
          </a:p>
        </p:txBody>
      </p:sp>
      <p:sp>
        <p:nvSpPr>
          <p:cNvPr id="10" name="process.start 隔离">
            <a:extLst xmlns:a="http://schemas.openxmlformats.org/drawingml/2006/main">
              <a:ext uri="{FF2B5EF4-FFF2-40B4-BE49-F238E27FC236}">
                <a16:creationId xmlns:a16="http://schemas.microsoft.com/office/drawing/2014/main" id="{E5C0CDAB-76D4-4AEC-A29C-256F2058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3238500" cy="34480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20B3D-24CA-4DB4-8804-1169E19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D3F26-C873-42D5-9E4F-6A50FBAC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process.start 隔离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27AC5-DEE2-4718-BAF1-D02D5468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813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后台进程可通过 worker 启动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返回 pid 后由主服务托管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记录 worker pid/exitCode/elapsedMs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stdout/stderr 截断信息回传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便于审计和排障</a:t>
            </a:r>
          </a:p>
        </p:txBody>
      </p:sp>
      <p:sp>
        <p:nvSpPr>
          <p:cNvPr id="14" name="SubAgent 编排">
            <a:extLst xmlns:a="http://schemas.openxmlformats.org/drawingml/2006/main">
              <a:ext uri="{FF2B5EF4-FFF2-40B4-BE49-F238E27FC236}">
                <a16:creationId xmlns:a16="http://schemas.microsoft.com/office/drawing/2014/main" id="{78B8E6C5-0122-40E0-8680-9FA93BE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3238500" cy="34480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5FDF9-B45B-4860-9277-F3F13D4B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25EDB-A865-464E-83FA-FD074608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SubAgent 编排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90C7E-857C-4484-B85F-91E77065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7813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单个派生、批量派发、并行提交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默认只读继承项目上下文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parallel 默认最多 4，硬上限 8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from-plan 可把 PlanItem 转子任务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高危审批不横向扩散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2D696-1FFD-449C-B910-DFBD9E39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边界：worker 不做第二套完整 Runtime；它只负责“在哪里执行、怎么限制、怎么杀掉”。</a:t>
            </a:r>
          </a:p>
        </p:txBody>
      </p:sp>
    </p:spTree>
    <p:extLst>
      <p:ext uri="{BB962C8B-B14F-4D97-AF65-F5344CB8AC3E}">
        <p14:creationId xmlns:p14="http://schemas.microsoft.com/office/powerpoint/2010/main" val="1711061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DB7DB-AAC6-49D2-A5DF-59C628FB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704E1-B92A-4936-9799-D91F96AE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管理台、App 与运维视角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394CE-847A-4D0A-803C-08DCCD5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前端不只是聊天框，而是把配置、审计、能力边界和本地运行状态显性化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B54D3-CB3D-45BB-9463-16D1C31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BDC85-CF09-4A38-B997-AD3B8702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Admin Console">
            <a:extLst xmlns:a="http://schemas.openxmlformats.org/drawingml/2006/main">
              <a:ext uri="{FF2B5EF4-FFF2-40B4-BE49-F238E27FC236}">
                <a16:creationId xmlns:a16="http://schemas.microsoft.com/office/drawing/2014/main" id="{DBC6750E-1B74-40B5-9F5B-4986ED5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52EA9-2F88-4F5A-ADF1-81DAD6B8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6E938-F569-4324-9343-A9376606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Admin Console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1EA6A-8D92-4FC8-8341-CD6FC5A0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总览指标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会话/任务/Todo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MCP / Skill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usage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审计/自动化/文件审查</a:t>
            </a:r>
          </a:p>
        </p:txBody>
      </p:sp>
      <p:sp>
        <p:nvSpPr>
          <p:cNvPr id="10" name="Desktop App">
            <a:extLst xmlns:a="http://schemas.openxmlformats.org/drawingml/2006/main">
              <a:ext uri="{FF2B5EF4-FFF2-40B4-BE49-F238E27FC236}">
                <a16:creationId xmlns:a16="http://schemas.microsoft.com/office/drawing/2014/main" id="{3C287E0E-DB15-430D-81E2-07A6B3B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2B63D-ACDD-431E-9630-350A2253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1536F-603C-421C-BC02-5AD2FB7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Desktop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01E83-AB80-479F-8A7B-396B2223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聊天工作台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计划模式开关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文件审查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设置页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设备配对/心跳</a:t>
            </a:r>
          </a:p>
        </p:txBody>
      </p:sp>
      <p:sp>
        <p:nvSpPr>
          <p:cNvPr id="14" name="Web Console">
            <a:extLst xmlns:a="http://schemas.openxmlformats.org/drawingml/2006/main">
              <a:ext uri="{FF2B5EF4-FFF2-40B4-BE49-F238E27FC236}">
                <a16:creationId xmlns:a16="http://schemas.microsoft.com/office/drawing/2014/main" id="{52CCA0A9-25F3-4C5C-8C7C-06764248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5C9A1-1029-4380-95CA-70635DCB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79903-A861-42B2-99E5-49EDF07B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Web Console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93E9B-355A-4636-9212-2BAB5BE9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保留轻量入口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适合快速验证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REST/SSE 流式任务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本地服务端口 17891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Health API</a:t>
            </a:r>
          </a:p>
        </p:txBody>
      </p:sp>
      <p:sp>
        <p:nvSpPr>
          <p:cNvPr id="18" name="运维页面">
            <a:extLst xmlns:a="http://schemas.openxmlformats.org/drawingml/2006/main">
              <a:ext uri="{FF2B5EF4-FFF2-40B4-BE49-F238E27FC236}">
                <a16:creationId xmlns:a16="http://schemas.microsoft.com/office/drawing/2014/main" id="{B80BF857-6D13-4848-AE4E-75BF85C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6AF13-CD33-4C5D-89AA-B695F75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D8A94-CD9A-4742-B2AE-14228C49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运维页面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B06C9-91FF-4A09-B31D-AB236884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本地配置健康检查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Worker jar 路径检查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Channel 绑定管理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Auth 角色门禁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异常任务与日志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293B8-693F-44AA-8F7A-96DE06F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管理台、App、当前完成情况。</a:t>
            </a:r>
          </a:p>
        </p:txBody>
      </p:sp>
    </p:spTree>
    <p:extLst>
      <p:ext uri="{BB962C8B-B14F-4D97-AF65-F5344CB8AC3E}">
        <p14:creationId xmlns:p14="http://schemas.microsoft.com/office/powerpoint/2010/main" val="19666263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816D2-788F-4568-B1E7-17DF7F03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63103-8163-4D2D-BF2F-EA024F3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审计、记忆与运行数据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B9B29-9420-447D-961E-8A9372F3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 Agent 每一步都能被复盘，而不是只看到最终回答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09E6-759C-42BB-AD45-3D435D7B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77D5-90AF-42D9-AB7B-29C6D477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任务事件">
            <a:extLst xmlns:a="http://schemas.openxmlformats.org/drawingml/2006/main">
              <a:ext uri="{FF2B5EF4-FFF2-40B4-BE49-F238E27FC236}">
                <a16:creationId xmlns:a16="http://schemas.microsoft.com/office/drawing/2014/main" id="{78000EB8-DABC-4BD2-AA35-2BA3833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4039D-5148-479E-8C90-68588D18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F585C-79E9-445E-B876-C90D8750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0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任务事件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9383C-4A28-4785-9B15-9B9CAE51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task.started / completed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step.started / finished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 started / succeeded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llm.delta / llm.completed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plan.updated</a:t>
            </a:r>
          </a:p>
        </p:txBody>
      </p:sp>
      <p:sp>
        <p:nvSpPr>
          <p:cNvPr id="10" name="审计与回放">
            <a:extLst xmlns:a="http://schemas.openxmlformats.org/drawingml/2006/main">
              <a:ext uri="{FF2B5EF4-FFF2-40B4-BE49-F238E27FC236}">
                <a16:creationId xmlns:a16="http://schemas.microsoft.com/office/drawing/2014/main" id="{E128A074-67FA-4492-AC7C-C5484B4B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097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F835A-CBEF-4336-8B6B-A4EE53ED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097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C51CA-2BD3-49B8-8B15-E42D061F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600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审计与回放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3CA73-A974-43E5-832F-617275D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0025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Audit Log / 事件回放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工具审批记录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文件审查 / 回滚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任务恢复和 checkpoint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敏感字段脱敏</a:t>
            </a:r>
          </a:p>
        </p:txBody>
      </p:sp>
      <p:sp>
        <p:nvSpPr>
          <p:cNvPr id="14" name="Token 与记忆">
            <a:extLst xmlns:a="http://schemas.openxmlformats.org/drawingml/2006/main">
              <a:ext uri="{FF2B5EF4-FFF2-40B4-BE49-F238E27FC236}">
                <a16:creationId xmlns:a16="http://schemas.microsoft.com/office/drawing/2014/main" id="{719D6147-0AC3-4F26-B28D-7DA4769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97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D06C4-A81E-477B-ACC9-04A8E494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97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7D343-65D1-4C5E-90FD-0602E002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00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Token 与记忆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B4AFC-615D-47BF-A18A-9B3B8D0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 model / phase 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prompt/completion/total tokens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FTS5 + JVector + RRF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命中记录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候选审核管理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72CE6-9B15-4DE7-A29E-DB8CC5AE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对企业来说，关键不是 Agent 能不能答，而是它为什么这么做、调用了什么、谁批准的、能不能回放。</a:t>
            </a:r>
          </a:p>
        </p:txBody>
      </p:sp>
    </p:spTree>
    <p:extLst>
      <p:ext uri="{BB962C8B-B14F-4D97-AF65-F5344CB8AC3E}">
        <p14:creationId xmlns:p14="http://schemas.microsoft.com/office/powerpoint/2010/main" val="5912575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406291-5BB7-4DFF-A52D-5FB10336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4FD15-299A-444A-B8FE-0E78D113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多种使用场景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743AA-AE8E-4FF8-A62D-E252715D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围绕 Java 企业系统、本地行动和 IM 工作流落地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FE282-0126-4825-9970-35A11F29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3660C-2CFD-4892-BEC6-E39A8337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企业系统内嵌 Agent">
            <a:extLst xmlns:a="http://schemas.openxmlformats.org/drawingml/2006/main">
              <a:ext uri="{FF2B5EF4-FFF2-40B4-BE49-F238E27FC236}">
                <a16:creationId xmlns:a16="http://schemas.microsoft.com/office/drawing/2014/main" id="{1A8079CA-4555-4075-B408-3B4B61F3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2C131-6363-4B2B-BAA4-C920766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280B-7EB2-4245-BB7A-2EF91A36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企业系统内嵌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2DFDC-C3D0-4B74-8C27-7D6AD754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Spring Boot starter 自动装配业务 AgentTool Bean，复用企业权限和审计。</a:t>
            </a:r>
          </a:p>
        </p:txBody>
      </p:sp>
      <p:sp>
        <p:nvSpPr>
          <p:cNvPr id="10" name="本地开发行动助手">
            <a:extLst xmlns:a="http://schemas.openxmlformats.org/drawingml/2006/main">
              <a:ext uri="{FF2B5EF4-FFF2-40B4-BE49-F238E27FC236}">
                <a16:creationId xmlns:a16="http://schemas.microsoft.com/office/drawing/2014/main" id="{77106E0A-3277-440E-AF8D-7CDF1262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71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649C0-87C2-4303-A897-D3D5AF25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71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46B21-8BBD-4E00-B5DC-5ECD6C5F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本地开发行动助手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893E9-480C-4BA2-B7AB-CBB7E613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读取项目文件、搜索、执行低危命令，高危动作走审批和 worker 隔离。</a:t>
            </a:r>
          </a:p>
        </p:txBody>
      </p:sp>
      <p:sp>
        <p:nvSpPr>
          <p:cNvPr id="14" name="IM 协同入口">
            <a:extLst xmlns:a="http://schemas.openxmlformats.org/drawingml/2006/main">
              <a:ext uri="{FF2B5EF4-FFF2-40B4-BE49-F238E27FC236}">
                <a16:creationId xmlns:a16="http://schemas.microsoft.com/office/drawing/2014/main" id="{E2CE8B2E-ED20-4A61-B7E6-7FE4183C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71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D6B24-F607-435F-BDD7-EA4B2CE1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71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005D3-28D0-43B6-8B7A-B1E1765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62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IM 协同入口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C8A0B-1BDB-461C-B1B1-2872466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飞书/钉钉/DDIO 消息进入 ChannelRouter，支持附件与富文本摘要。</a:t>
            </a:r>
          </a:p>
        </p:txBody>
      </p:sp>
      <p:sp>
        <p:nvSpPr>
          <p:cNvPr id="18" name="计划型复杂任务">
            <a:extLst xmlns:a="http://schemas.openxmlformats.org/drawingml/2006/main">
              <a:ext uri="{FF2B5EF4-FFF2-40B4-BE49-F238E27FC236}">
                <a16:creationId xmlns:a16="http://schemas.microsoft.com/office/drawing/2014/main" id="{CA8DE6C9-B84C-472F-BF7D-FBB793C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B9040-459B-4CEE-9144-65D2B758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626FC-D2A2-416E-934F-C38426E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计划型复杂任务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17755-5788-4F25-97FD-BB02D2AC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先生成计划，用户确认后执行，阻塞后可修订继续。</a:t>
            </a:r>
          </a:p>
        </p:txBody>
      </p:sp>
      <p:sp>
        <p:nvSpPr>
          <p:cNvPr id="22" name="定时巡检与自动化">
            <a:extLst xmlns:a="http://schemas.openxmlformats.org/drawingml/2006/main">
              <a:ext uri="{FF2B5EF4-FFF2-40B4-BE49-F238E27FC236}">
                <a16:creationId xmlns:a16="http://schemas.microsoft.com/office/drawing/2014/main" id="{754BF993-6B71-4E8E-8373-7B8CEE66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FBCAA-D0C8-42CC-B784-F16C29A3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E72DA-A468-45BB-83C9-8A0B9988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定时巡检与自动化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87B6C-A4D9-44D9-B911-E91F7F5F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Cron/间隔/单次任务，失败重试和运行历史保留。</a:t>
            </a:r>
          </a:p>
        </p:txBody>
      </p:sp>
      <p:sp>
        <p:nvSpPr>
          <p:cNvPr id="26" name="知识问答与文件审查">
            <a:extLst xmlns:a="http://schemas.openxmlformats.org/drawingml/2006/main">
              <a:ext uri="{FF2B5EF4-FFF2-40B4-BE49-F238E27FC236}">
                <a16:creationId xmlns:a16="http://schemas.microsoft.com/office/drawing/2014/main" id="{F34E577D-4AB0-4A28-BEF4-37F8E35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CC030-A2DE-4E00-84B6-7088F01E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A3D2B-50A7-4F44-B7A4-3FFE085F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知识问答与文件审查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0D6F2-7D19-46B2-9D1C-B39A83F5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附件入库、知识检索、文件审查、diff 和回滚进入同一任务链路。</a:t>
            </a:r>
          </a:p>
        </p:txBody>
      </p:sp>
    </p:spTree>
    <p:extLst>
      <p:ext uri="{BB962C8B-B14F-4D97-AF65-F5344CB8AC3E}">
        <p14:creationId xmlns:p14="http://schemas.microsoft.com/office/powerpoint/2010/main" val="13970155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3665B-A622-472E-B535-E21BBB9F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4F87D-6BC1-42ED-B592-45626AEF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与 OpenClaw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A5611-ACB5-48D2-80D3-BACEC23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OpenClaw 偏个人多通道助手；ClawAgent 偏 Java 企业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6AF94-5D3D-4EB0-AD33-40E49C6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94767-B46B-4796-BFA0-C2D8FF6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ClawAgent">
            <a:extLst xmlns:a="http://schemas.openxmlformats.org/drawingml/2006/main">
              <a:ext uri="{FF2B5EF4-FFF2-40B4-BE49-F238E27FC236}">
                <a16:creationId xmlns:a16="http://schemas.microsoft.com/office/drawing/2014/main" id="{7B8C9B98-7192-415A-9876-49EB9815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1CE32-8DEF-484D-BCA0-7393B8B6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13DCF-E1F1-4391-AC37-B875C7F4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AAD69-30F1-4CBD-A9D9-7BAEC66B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781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17 / Spring Boot / Maven 多模块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可嵌入业务系统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ToolGuard、审计、审批、脱敏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Plan/Automation/Worker/SubAgent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适合企业内应用集成</a:t>
            </a:r>
          </a:p>
        </p:txBody>
      </p:sp>
      <p:sp>
        <p:nvSpPr>
          <p:cNvPr id="10" name="OpenClaw">
            <a:extLst xmlns:a="http://schemas.openxmlformats.org/drawingml/2006/main">
              <a:ext uri="{FF2B5EF4-FFF2-40B4-BE49-F238E27FC236}">
                <a16:creationId xmlns:a16="http://schemas.microsoft.com/office/drawing/2014/main" id="{24C0C6FC-6CE8-4905-866F-50C5B27A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F1E61-9517-4927-9384-F43025E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08FBB-4140-4B49-A46F-B88DC11A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62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ACF8D-B91A-41AE-BD2D-9ABE1A0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62150"/>
            <a:ext cx="2781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个人 AI Assistant / Local-first Gateway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多通道覆盖更突出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移动/语音/Canvas 体验更强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生态偏个人助手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企业 Java 内嵌不是重点</a:t>
            </a:r>
          </a:p>
        </p:txBody>
      </p:sp>
      <p:sp>
        <p:nvSpPr>
          <p:cNvPr id="14" name="选型判断">
            <a:extLst xmlns:a="http://schemas.openxmlformats.org/drawingml/2006/main">
              <a:ext uri="{FF2B5EF4-FFF2-40B4-BE49-F238E27FC236}">
                <a16:creationId xmlns:a16="http://schemas.microsoft.com/office/drawing/2014/main" id="{DDF1D051-A0A7-4D88-8AE4-3440CE4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716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5E63D-30F1-4182-BB13-5793BF2B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716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F2F2F-33FF-4E37-A71B-8DA01E62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62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选型判断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54846-4350-424C-84E2-29F639D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2781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做 Java 企业系统集成：ClawAgent 更顺手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做个人助手和多通道常驻体验：OpenClaw 更完整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两者都重视安全，但治理粒度不同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D81C8-A30E-4BA7-8BCB-00522BA5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核心判断：OpenClaw 的强项是个人多通道常驻体验；ClawAgent 的强项是 Java 企业系统里的可嵌入、可审计、可治理。</a:t>
            </a:r>
          </a:p>
        </p:txBody>
      </p:sp>
    </p:spTree>
    <p:extLst>
      <p:ext uri="{BB962C8B-B14F-4D97-AF65-F5344CB8AC3E}">
        <p14:creationId xmlns:p14="http://schemas.microsoft.com/office/powerpoint/2010/main" val="13714437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23FD0-5E72-45FF-A87F-5D17F90D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815BB-114D-4DE9-8BA1-D6F1800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与 Hermes Agent / AgentScope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C4303-6C18-49B6-80C0-21CBE564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一个偏产品化自改进，一个偏通用生态栈，ClawAgent 偏企业应用内核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BDA18-A14B-466E-9243-75775F6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F03AC-6438-4771-9566-B1C3D3B5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Hermes Agent">
            <a:extLst xmlns:a="http://schemas.openxmlformats.org/drawingml/2006/main">
              <a:ext uri="{FF2B5EF4-FFF2-40B4-BE49-F238E27FC236}">
                <a16:creationId xmlns:a16="http://schemas.microsoft.com/office/drawing/2014/main" id="{18388410-4717-451D-832A-90B5915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143250" cy="36385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B3F17-A33D-4095-894A-5B4933B9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9DF29-7850-4807-880D-DBF7AC64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Hermes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4896A-BEAA-40AC-8880-67A5D9A3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686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Nous Research 自改进 Agent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学习循环、技能自创建/自改进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跨平台工具生态更成熟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适合产品化 Agent 能力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ClawAgent 更偏 Java 业务底座</a:t>
            </a:r>
          </a:p>
        </p:txBody>
      </p:sp>
      <p:sp>
        <p:nvSpPr>
          <p:cNvPr id="10" name="AgentScope">
            <a:extLst xmlns:a="http://schemas.openxmlformats.org/drawingml/2006/main">
              <a:ext uri="{FF2B5EF4-FFF2-40B4-BE49-F238E27FC236}">
                <a16:creationId xmlns:a16="http://schemas.microsoft.com/office/drawing/2014/main" id="{58386256-C30F-4A27-B0EB-E44C0A8F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52550"/>
            <a:ext cx="3143250" cy="36385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1FB5F-DC36-422A-B485-7C17D7D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525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E8153-675D-4EE1-9D7F-E49F36B6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43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17599-D24A-442E-BF26-3CB86D63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43100"/>
            <a:ext cx="2686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通用 Agent 全生命周期栈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开发、运行、记忆、评测、训练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 Agent 抽象更成熟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生态广度更完整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ClawAgent 更贴 Spring Boot 落地</a:t>
            </a:r>
          </a:p>
        </p:txBody>
      </p:sp>
      <p:sp>
        <p:nvSpPr>
          <p:cNvPr id="14" name="ClawAgent">
            <a:extLst xmlns:a="http://schemas.openxmlformats.org/drawingml/2006/main">
              <a:ext uri="{FF2B5EF4-FFF2-40B4-BE49-F238E27FC236}">
                <a16:creationId xmlns:a16="http://schemas.microsoft.com/office/drawing/2014/main" id="{ACC61D49-4659-42EA-A4EE-814E9C9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3143250" cy="36385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05692-E412-4732-85E2-B7E74C55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E0819-89DE-4BF7-8D58-D8FA97E1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4EE1D-BD9A-4729-87F6-614AE9A6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43100"/>
            <a:ext cx="2686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Harness Agent Runtime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管理台 + Starter + Server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权限、审计、本地执行更深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MCP/Skill/业务工具统一治理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适合现有 Java 系统接入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BEA21-456E-4585-98E0-870C7D65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一句话：AgentScope 像平台型框架生态，Hermes 像产品化 Agent，ClawAgent 像企业应用内核 + Spring Boot starter。</a:t>
            </a:r>
          </a:p>
        </p:txBody>
      </p:sp>
    </p:spTree>
    <p:extLst>
      <p:ext uri="{BB962C8B-B14F-4D97-AF65-F5344CB8AC3E}">
        <p14:creationId xmlns:p14="http://schemas.microsoft.com/office/powerpoint/2010/main" val="90047908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70915-A341-485F-8AB7-3169F4F5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4B82A-06BF-42D2-9A53-880CD8F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项目优缺点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AF575-C356-4198-A93A-001ECB74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结合当前仓库成熟度和竞品差异看选型边界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4BC05-FD70-418E-84A7-B563D380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8F711-9EE1-464A-9F7E-0A25326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主要优点">
            <a:extLst xmlns:a="http://schemas.openxmlformats.org/drawingml/2006/main">
              <a:ext uri="{FF2B5EF4-FFF2-40B4-BE49-F238E27FC236}">
                <a16:creationId xmlns:a16="http://schemas.microsoft.com/office/drawing/2014/main" id="{63134DB2-0B0E-4D4E-B139-90ECC784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1435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5EDB2-B6E8-4104-B169-122CCA9F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A8C63-F64A-446B-B3B8-8EA81D0F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主要优点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5A34C-A1BF-489A-A2C1-46D6C73B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46863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/ Spring Boot 原生，适合已有企业后端集成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Runtime、Planner、工具、MCP、Skill、Channel 分层清晰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计划模式、审批、审计、Worker 隔离已经进入主链路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+ 本地记忆 + JVector，单机可直接跑通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Admin/App/Web 三端能支撑配置、运维和调试</a:t>
            </a:r>
          </a:p>
        </p:txBody>
      </p:sp>
      <p:sp>
        <p:nvSpPr>
          <p:cNvPr id="10" name="主要不足">
            <a:extLst xmlns:a="http://schemas.openxmlformats.org/drawingml/2006/main">
              <a:ext uri="{FF2B5EF4-FFF2-40B4-BE49-F238E27FC236}">
                <a16:creationId xmlns:a16="http://schemas.microsoft.com/office/drawing/2014/main" id="{C18F0323-E702-4B75-9C9C-B74407E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51435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7B0F5-A327-46D7-B901-681B4602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762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9FF84-C19D-493E-B889-2C12AED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主要不足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F1300-C38F-45F3-8B7A-8C657D81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6863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外部向量库、Redis、分布式部署仍不是主能力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评测/训练/多 Agent 生态不如 AgentScope 完整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代码沙箱和 OS 级隔离还需继续增强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企业级组织/用户组权限矩阵还在后续方向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当前仓库迭代较快，管理台页面需持续跟随后端能力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ACE5E-E380-4C8E-B83C-50EE6120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适合优先选择 ClawAgent 的场景：Java 企业应用内嵌、本地行动 Agent、需要审批/审计/脱敏/文件回滚的受控自动化。</a:t>
            </a:r>
          </a:p>
        </p:txBody>
      </p:sp>
    </p:spTree>
    <p:extLst>
      <p:ext uri="{BB962C8B-B14F-4D97-AF65-F5344CB8AC3E}">
        <p14:creationId xmlns:p14="http://schemas.microsoft.com/office/powerpoint/2010/main" val="212899896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F90ED-C922-496C-91A5-D396C16F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C09A7-2742-4B21-A7DA-75C0794A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后续演进建议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23791-E12C-4CCD-B9A0-342D80F2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保持 Java 企业落地主线，补齐生态广度和生产化能力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59BB9-0F7A-4F87-A46A-036146F7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B6674-3C6C-4C91-AF38-52345D0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短期">
            <a:extLst xmlns:a="http://schemas.openxmlformats.org/drawingml/2006/main">
              <a:ext uri="{FF2B5EF4-FFF2-40B4-BE49-F238E27FC236}">
                <a16:creationId xmlns:a16="http://schemas.microsoft.com/office/drawing/2014/main" id="{FC3BBA78-288A-489C-A0AF-10B62D08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3009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D5A3F-1435-4AB6-B895-491FF77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EBA43-180E-462D-B113-852F0D0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短期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A10C8-6BBA-4636-8391-92F33EB2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2552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优化 Planner 动态路由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增强 Plan 自动重规划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补管理台缺失页面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完善通道审批策略</a:t>
            </a:r>
          </a:p>
        </p:txBody>
      </p:sp>
      <p:sp>
        <p:nvSpPr>
          <p:cNvPr id="10" name="中期">
            <a:extLst xmlns:a="http://schemas.openxmlformats.org/drawingml/2006/main">
              <a:ext uri="{FF2B5EF4-FFF2-40B4-BE49-F238E27FC236}">
                <a16:creationId xmlns:a16="http://schemas.microsoft.com/office/drawing/2014/main" id="{9949F749-50E7-4096-A136-9C5B21AA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3009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C55AA-17D7-467C-892E-6673B17B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13967-F1F2-4781-9CF4-316BD9A1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95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E5219-26AF-4974-9056-78E78F20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552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接入 Redis / 分布式任务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外部 VectorStore 适配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企业权限矩阵编辑器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更强观测和评测报表</a:t>
            </a:r>
          </a:p>
        </p:txBody>
      </p:sp>
      <p:sp>
        <p:nvSpPr>
          <p:cNvPr id="14" name="长期">
            <a:extLst xmlns:a="http://schemas.openxmlformats.org/drawingml/2006/main">
              <a:ext uri="{FF2B5EF4-FFF2-40B4-BE49-F238E27FC236}">
                <a16:creationId xmlns:a16="http://schemas.microsoft.com/office/drawing/2014/main" id="{06EBEF69-BD1C-457A-9A57-F702B66A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009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52171-9153-47AC-893B-24C0F27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BA870-A903-442E-B1DF-D7C1363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长期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60C3E-FFE8-4664-924D-992A010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552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OS 级沙箱和资源隔离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 Agent 编排策略成熟化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组织级审计解释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插件/Skill 市场化管理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21D71-F7C3-44FA-BF30-582CA89A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建议不要偏离主定位：优先做企业应用内核，把权限、审计、工具治理、Runtime 稳定性打磨扎实。</a:t>
            </a:r>
          </a:p>
        </p:txBody>
      </p:sp>
    </p:spTree>
    <p:extLst>
      <p:ext uri="{BB962C8B-B14F-4D97-AF65-F5344CB8AC3E}">
        <p14:creationId xmlns:p14="http://schemas.microsoft.com/office/powerpoint/2010/main" val="129420775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A33AB-781C-452C-A839-41BBBDD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85486-C229-4774-BF31-56B72C75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资料来源与说明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C3C7D-308C-438D-B0DD-E04725E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内容以当前仓库文档与源码结构为主，并结合竞品公开定位做判断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4B724-76A4-4B93-A6A4-97CC9B2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10E97-D6A9-4BBF-91A8-6AAEE4AE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项目来源">
            <a:extLst xmlns:a="http://schemas.openxmlformats.org/drawingml/2006/main">
              <a:ext uri="{FF2B5EF4-FFF2-40B4-BE49-F238E27FC236}">
                <a16:creationId xmlns:a16="http://schemas.microsoft.com/office/drawing/2014/main" id="{123893D9-524C-4B4C-AC56-61FD3F50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35292-4ED8-48BE-A266-97246CD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45B5D-F7BF-4C66-B4B5-26D5C5EC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项目来源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132CB-F666-48E9-B81B-F4744AE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4305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README.md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CONFIGURATION.md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pom.xml Maven modules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claw-agent-worker/PLAN.md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当前仓库新增模块与接口命名</a:t>
            </a:r>
          </a:p>
        </p:txBody>
      </p:sp>
      <p:sp>
        <p:nvSpPr>
          <p:cNvPr id="10" name="外部比较说明">
            <a:extLst xmlns:a="http://schemas.openxmlformats.org/drawingml/2006/main">
              <a:ext uri="{FF2B5EF4-FFF2-40B4-BE49-F238E27FC236}">
                <a16:creationId xmlns:a16="http://schemas.microsoft.com/office/drawing/2014/main" id="{39FD4F54-3180-4C45-8966-4A14108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14FC2-C81F-4CCE-9DEB-73005877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FD4B-0D1E-4357-A708-22322F9E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外部比较说明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B3F92-A0EE-4038-86CA-B32DA777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305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OpenClaw：按个人多通道助手定位比较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Hermes Agent：按自改进 Agent 产品定位比较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AgentScope：按通用 Agent 生态/框架栈比较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竞品判断用于选型，不作为功能完全等价声明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ABAB4-95B7-4A90-B710-8E5D116B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0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版本口径：根据当前仓库 README 的已完成能力和本次需求整理，适合作为项目介绍、内部评审和软著/架构沟通材料。</a:t>
            </a:r>
          </a:p>
        </p:txBody>
      </p:sp>
    </p:spTree>
    <p:extLst>
      <p:ext uri="{BB962C8B-B14F-4D97-AF65-F5344CB8AC3E}">
        <p14:creationId xmlns:p14="http://schemas.microsoft.com/office/powerpoint/2010/main" val="1780956594"/>
      </p:ext>
    </p:extLst>
  </p:cSld>
</p:sld>
</file>

<file path=ppt/theme/theme1.xml><?xml version="1.0" encoding="utf-8"?>
<a:theme xmlns:a="http://schemas.openxmlformats.org/drawingml/2006/main" name="ChatGPT">
  <a:themeElements>
    <a:clrScheme name="ClawAgent Office">
      <a:dk1>
        <a:srgbClr val="000000"/>
      </a:dk1>
      <a:lt1>
        <a:srgbClr val="FFFFFF"/>
      </a:lt1>
      <a:dk2>
        <a:srgbClr val="25283D"/>
      </a:dk2>
      <a:lt2>
        <a:srgbClr val="EEF3F6"/>
      </a:lt2>
      <a:accent1>
        <a:srgbClr val="0078F0"/>
      </a:accent1>
      <a:accent2>
        <a:srgbClr val="2FA69A"/>
      </a:accent2>
      <a:accent3>
        <a:srgbClr val="D6AD2C"/>
      </a:accent3>
      <a:accent4>
        <a:srgbClr val="EF2F4F"/>
      </a:accent4>
      <a:accent5>
        <a:srgbClr val="64748B"/>
      </a:accent5>
      <a:accent6>
        <a:srgbClr val="34A853"/>
      </a:accent6>
      <a:hlink>
        <a:srgbClr val="0078F0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wAgent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2026-07-28T02:13:53.2500000Z</dcterms:created>
  <dcterms:modified xsi:type="dcterms:W3CDTF">2026-07-28T02:13:53.2500000Z</dcterms:modified>
</coreProperties>
</file>