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5f1ac586fc492a" /><Relationship Type="http://schemas.openxmlformats.org/officeDocument/2006/relationships/extended-properties" Target="/docProps/app.xml" Id="R80e35eca92e14529" /><Relationship Type="http://schemas.openxmlformats.org/officeDocument/2006/relationships/officeDocument" Target="/ppt/presentation.xml" Id="R5a3cc175419940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f93db65a23418e"/>
  </p:sldMasterIdLst>
  <p:notesMasterIdLst>
    <p:notesMasterId xmlns:r="http://schemas.openxmlformats.org/officeDocument/2006/relationships" r:id="R05b0ef08f1d040b4"/>
  </p:notesMasterIdLst>
  <p:sldIdLst>
    <p:sldId xmlns:r="http://schemas.openxmlformats.org/officeDocument/2006/relationships" id="256" r:id="R6ec3a491b5994325"/>
    <p:sldId xmlns:r="http://schemas.openxmlformats.org/officeDocument/2006/relationships" id="257" r:id="R63a81ad0743d4752"/>
    <p:sldId xmlns:r="http://schemas.openxmlformats.org/officeDocument/2006/relationships" id="258" r:id="R93f77bb2e4f14b2c"/>
    <p:sldId xmlns:r="http://schemas.openxmlformats.org/officeDocument/2006/relationships" id="259" r:id="R6806c784fb874c53"/>
    <p:sldId xmlns:r="http://schemas.openxmlformats.org/officeDocument/2006/relationships" id="260" r:id="R391c9ab4456e4729"/>
    <p:sldId xmlns:r="http://schemas.openxmlformats.org/officeDocument/2006/relationships" id="261" r:id="Rd074cba8c8c3408b"/>
    <p:sldId xmlns:r="http://schemas.openxmlformats.org/officeDocument/2006/relationships" id="262" r:id="R90b873f8962e4f1e"/>
    <p:sldId xmlns:r="http://schemas.openxmlformats.org/officeDocument/2006/relationships" id="263" r:id="R442d5d4cc9534c86"/>
    <p:sldId xmlns:r="http://schemas.openxmlformats.org/officeDocument/2006/relationships" id="264" r:id="R8a76278afee646d0"/>
    <p:sldId xmlns:r="http://schemas.openxmlformats.org/officeDocument/2006/relationships" id="265" r:id="R2ec8873ef91549a9"/>
    <p:sldId xmlns:r="http://schemas.openxmlformats.org/officeDocument/2006/relationships" id="266" r:id="Rcc7523a81e3a47cd"/>
    <p:sldId xmlns:r="http://schemas.openxmlformats.org/officeDocument/2006/relationships" id="267" r:id="Rb1a0fff5051d47bb"/>
    <p:sldId xmlns:r="http://schemas.openxmlformats.org/officeDocument/2006/relationships" id="268" r:id="Rf7a9c5d32138410e"/>
    <p:sldId xmlns:r="http://schemas.openxmlformats.org/officeDocument/2006/relationships" id="269" r:id="R93c5f2c2adbc4e83"/>
    <p:sldId xmlns:r="http://schemas.openxmlformats.org/officeDocument/2006/relationships" id="270" r:id="Ref717f9764b3482d"/>
    <p:sldId xmlns:r="http://schemas.openxmlformats.org/officeDocument/2006/relationships" id="271" r:id="R6d39f9719b2644cf"/>
    <p:sldId xmlns:r="http://schemas.openxmlformats.org/officeDocument/2006/relationships" id="272" r:id="Rd3ccf0683a0748cb"/>
    <p:sldId xmlns:r="http://schemas.openxmlformats.org/officeDocument/2006/relationships" id="273" r:id="Re53760b1d85e494e"/>
    <p:sldId xmlns:r="http://schemas.openxmlformats.org/officeDocument/2006/relationships" id="274" r:id="Rf43b9d6460274561"/>
    <p:sldId xmlns:r="http://schemas.openxmlformats.org/officeDocument/2006/relationships" id="275" r:id="R3d1eef13cf574685"/>
    <p:sldId xmlns:r="http://schemas.openxmlformats.org/officeDocument/2006/relationships" id="276" r:id="R376a539cdd6447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55d907d83e4df6" /><Relationship Type="http://schemas.openxmlformats.org/officeDocument/2006/relationships/slideMaster" Target="/ppt/slideMasters/slideMaster1.xml" Id="Rf2f93db65a23418e" /><Relationship Type="http://schemas.openxmlformats.org/officeDocument/2006/relationships/notesMaster" Target="/ppt/notesMasters/notesMaster1.xml" Id="R05b0ef08f1d040b4" /><Relationship Type="http://schemas.openxmlformats.org/officeDocument/2006/relationships/presProps" Target="/ppt/presProps.xml" Id="R0da685b2f83240e5" /><Relationship Type="http://schemas.openxmlformats.org/officeDocument/2006/relationships/tableStyles" Target="/ppt/tableStyles.xml" Id="Rfe3a721bf7704d87" /><Relationship Type="http://schemas.openxmlformats.org/officeDocument/2006/relationships/slide" Target="/ppt/slides/slide1.xml" Id="R6ec3a491b5994325" /><Relationship Type="http://schemas.openxmlformats.org/officeDocument/2006/relationships/slide" Target="/ppt/slides/slide2.xml" Id="R63a81ad0743d4752" /><Relationship Type="http://schemas.openxmlformats.org/officeDocument/2006/relationships/slide" Target="/ppt/slides/slide3.xml" Id="R93f77bb2e4f14b2c" /><Relationship Type="http://schemas.openxmlformats.org/officeDocument/2006/relationships/slide" Target="/ppt/slides/slide4.xml" Id="R6806c784fb874c53" /><Relationship Type="http://schemas.openxmlformats.org/officeDocument/2006/relationships/slide" Target="/ppt/slides/slide5.xml" Id="R391c9ab4456e4729" /><Relationship Type="http://schemas.openxmlformats.org/officeDocument/2006/relationships/slide" Target="/ppt/slides/slide6.xml" Id="Rd074cba8c8c3408b" /><Relationship Type="http://schemas.openxmlformats.org/officeDocument/2006/relationships/slide" Target="/ppt/slides/slide7.xml" Id="R90b873f8962e4f1e" /><Relationship Type="http://schemas.openxmlformats.org/officeDocument/2006/relationships/slide" Target="/ppt/slides/slide8.xml" Id="R442d5d4cc9534c86" /><Relationship Type="http://schemas.openxmlformats.org/officeDocument/2006/relationships/slide" Target="/ppt/slides/slide9.xml" Id="R8a76278afee646d0" /><Relationship Type="http://schemas.openxmlformats.org/officeDocument/2006/relationships/slide" Target="/ppt/slides/slide10.xml" Id="R2ec8873ef91549a9" /><Relationship Type="http://schemas.openxmlformats.org/officeDocument/2006/relationships/slide" Target="/ppt/slides/slide11.xml" Id="Rcc7523a81e3a47cd" /><Relationship Type="http://schemas.openxmlformats.org/officeDocument/2006/relationships/slide" Target="/ppt/slides/slide12.xml" Id="Rb1a0fff5051d47bb" /><Relationship Type="http://schemas.openxmlformats.org/officeDocument/2006/relationships/slide" Target="/ppt/slides/slide13.xml" Id="Rf7a9c5d32138410e" /><Relationship Type="http://schemas.openxmlformats.org/officeDocument/2006/relationships/slide" Target="/ppt/slides/slide14.xml" Id="R93c5f2c2adbc4e83" /><Relationship Type="http://schemas.openxmlformats.org/officeDocument/2006/relationships/slide" Target="/ppt/slides/slide15.xml" Id="Ref717f9764b3482d" /><Relationship Type="http://schemas.openxmlformats.org/officeDocument/2006/relationships/slide" Target="/ppt/slides/slide16.xml" Id="R6d39f9719b2644cf" /><Relationship Type="http://schemas.openxmlformats.org/officeDocument/2006/relationships/slide" Target="/ppt/slides/slide17.xml" Id="Rd3ccf0683a0748cb" /><Relationship Type="http://schemas.openxmlformats.org/officeDocument/2006/relationships/slide" Target="/ppt/slides/slide18.xml" Id="Re53760b1d85e494e" /><Relationship Type="http://schemas.openxmlformats.org/officeDocument/2006/relationships/slide" Target="/ppt/slides/slide19.xml" Id="Rf43b9d6460274561" /><Relationship Type="http://schemas.openxmlformats.org/officeDocument/2006/relationships/slide" Target="/ppt/slides/slide20.xml" Id="R3d1eef13cf574685" /><Relationship Type="http://schemas.openxmlformats.org/officeDocument/2006/relationships/slide" Target="/ppt/slides/slide21.xml" Id="R376a539cdd6447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53e8882a4544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lawAgent Office">
      <a:dk1>
        <a:srgbClr val="000000"/>
      </a:dk1>
      <a:lt1>
        <a:srgbClr val="FFFFFF"/>
      </a:lt1>
      <a:dk2>
        <a:srgbClr val="25283D"/>
      </a:dk2>
      <a:lt2>
        <a:srgbClr val="EEF3F6"/>
      </a:lt2>
      <a:accent1>
        <a:srgbClr val="0078F0"/>
      </a:accent1>
      <a:accent2>
        <a:srgbClr val="2FA69A"/>
      </a:accent2>
      <a:accent3>
        <a:srgbClr val="D6AD2C"/>
      </a:accent3>
      <a:accent4>
        <a:srgbClr val="EF2F4F"/>
      </a:accent4>
      <a:accent5>
        <a:srgbClr val="64748B"/>
      </a:accent5>
      <a:accent6>
        <a:srgbClr val="34A853"/>
      </a:accent6>
      <a:hlink>
        <a:srgbClr val="0078F0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lawAgent 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2d7772a2ad44d1" /><Relationship Type="http://schemas.openxmlformats.org/officeDocument/2006/relationships/notesMaster" Target="/ppt/notesMasters/notesMaster1.xml" Id="Rc9fbaa52e32347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8afb8b59bc4300" /><Relationship Type="http://schemas.openxmlformats.org/officeDocument/2006/relationships/notesMaster" Target="/ppt/notesMasters/notesMaster1.xml" Id="Re7db423a1fb842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a75cc1c6e342c3" /><Relationship Type="http://schemas.openxmlformats.org/officeDocument/2006/relationships/notesMaster" Target="/ppt/notesMasters/notesMaster1.xml" Id="R47e4e4d8d4a045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fa6d1519c94f10" /><Relationship Type="http://schemas.openxmlformats.org/officeDocument/2006/relationships/notesMaster" Target="/ppt/notesMasters/notesMaster1.xml" Id="Rdc9e34fbad2b4c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36c362af454016" /><Relationship Type="http://schemas.openxmlformats.org/officeDocument/2006/relationships/notesMaster" Target="/ppt/notesMasters/notesMaster1.xml" Id="R740c3929afda4f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0139b7ccdf420c" /><Relationship Type="http://schemas.openxmlformats.org/officeDocument/2006/relationships/notesMaster" Target="/ppt/notesMasters/notesMaster1.xml" Id="Rc4ebd78e6a924f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e0e8ecf5b94192" /><Relationship Type="http://schemas.openxmlformats.org/officeDocument/2006/relationships/notesMaster" Target="/ppt/notesMasters/notesMaster1.xml" Id="R5c0e08fb4e6341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d35fb7ec964f1c" /><Relationship Type="http://schemas.openxmlformats.org/officeDocument/2006/relationships/notesMaster" Target="/ppt/notesMasters/notesMaster1.xml" Id="Redbdc0b7c0da40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d54be6911c49ef" /><Relationship Type="http://schemas.openxmlformats.org/officeDocument/2006/relationships/notesMaster" Target="/ppt/notesMasters/notesMaster1.xml" Id="Rb4d6dbfe1bec41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25c74749b44abf" /><Relationship Type="http://schemas.openxmlformats.org/officeDocument/2006/relationships/notesMaster" Target="/ppt/notesMasters/notesMaster1.xml" Id="R3f66ea0ec83143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d58e5adc174dc7" /><Relationship Type="http://schemas.openxmlformats.org/officeDocument/2006/relationships/notesMaster" Target="/ppt/notesMasters/notesMaster1.xml" Id="R11979e250bc84d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3a9e0a32274cb6" /><Relationship Type="http://schemas.openxmlformats.org/officeDocument/2006/relationships/notesMaster" Target="/ppt/notesMasters/notesMaster1.xml" Id="Ref86fa6fdef248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818f24108f4cb2" /><Relationship Type="http://schemas.openxmlformats.org/officeDocument/2006/relationships/notesMaster" Target="/ppt/notesMasters/notesMaster1.xml" Id="R2735cae370f343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7bfb6255aa24ee2" /><Relationship Type="http://schemas.openxmlformats.org/officeDocument/2006/relationships/notesMaster" Target="/ppt/notesMasters/notesMaster1.xml" Id="R72e3a57f864e47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fcb49ec8354dd4" /><Relationship Type="http://schemas.openxmlformats.org/officeDocument/2006/relationships/notesMaster" Target="/ppt/notesMasters/notesMaster1.xml" Id="Ra6d549c449be405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a7b89a7330d46c3" /><Relationship Type="http://schemas.openxmlformats.org/officeDocument/2006/relationships/notesMaster" Target="/ppt/notesMasters/notesMaster1.xml" Id="Rde72971791fb458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1189e41451a4353" /><Relationship Type="http://schemas.openxmlformats.org/officeDocument/2006/relationships/notesMaster" Target="/ppt/notesMasters/notesMaster1.xml" Id="Reab612b9b9d943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1eb65e20dbf408d" /><Relationship Type="http://schemas.openxmlformats.org/officeDocument/2006/relationships/notesMaster" Target="/ppt/notesMasters/notesMaster1.xml" Id="R0aa52a60e2ed422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f7f118bb58a4eca" /><Relationship Type="http://schemas.openxmlformats.org/officeDocument/2006/relationships/notesMaster" Target="/ppt/notesMasters/notesMaster1.xml" Id="R8cb08ad860fe412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ce8181a8bf542a4" /><Relationship Type="http://schemas.openxmlformats.org/officeDocument/2006/relationships/notesMaster" Target="/ppt/notesMasters/notesMaster1.xml" Id="R931d67e44c43476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a3e2f14e7a84a2d" /><Relationship Type="http://schemas.openxmlformats.org/officeDocument/2006/relationships/notesMaster" Target="/ppt/notesMasters/notesMaster1.xml" Id="R6c26d725abb345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d0affdfc5841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42f61ef24343ff" /><Relationship Type="http://schemas.openxmlformats.org/officeDocument/2006/relationships/slideLayout" Target="/ppt/slideLayouts/slideLayout1.xml" Id="R616a5ae803164b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6a5ae803164b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lawAgent Office">
      <a:dk1>
        <a:srgbClr val="000000"/>
      </a:dk1>
      <a:lt1>
        <a:srgbClr val="FFFFFF"/>
      </a:lt1>
      <a:dk2>
        <a:srgbClr val="25283D"/>
      </a:dk2>
      <a:lt2>
        <a:srgbClr val="EEF3F6"/>
      </a:lt2>
      <a:accent1>
        <a:srgbClr val="0078F0"/>
      </a:accent1>
      <a:accent2>
        <a:srgbClr val="2FA69A"/>
      </a:accent2>
      <a:accent3>
        <a:srgbClr val="D6AD2C"/>
      </a:accent3>
      <a:accent4>
        <a:srgbClr val="EF2F4F"/>
      </a:accent4>
      <a:accent5>
        <a:srgbClr val="64748B"/>
      </a:accent5>
      <a:accent6>
        <a:srgbClr val="34A853"/>
      </a:accent6>
      <a:hlink>
        <a:srgbClr val="0078F0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lawAgent 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666b89bb743e3" /><Relationship Type="http://schemas.openxmlformats.org/officeDocument/2006/relationships/notesSlide" Target="/ppt/notesSlides/notesSlide1.xml" Id="R001b3aa692bc40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2658f4d764544" /><Relationship Type="http://schemas.openxmlformats.org/officeDocument/2006/relationships/notesSlide" Target="/ppt/notesSlides/notesSlide2.xml" Id="R1f970959d8044f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025ef1ec34df5" /><Relationship Type="http://schemas.openxmlformats.org/officeDocument/2006/relationships/notesSlide" Target="/ppt/notesSlides/notesSlide3.xml" Id="R7d85bc7f08204e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0a4b5fd9c47c3" /><Relationship Type="http://schemas.openxmlformats.org/officeDocument/2006/relationships/notesSlide" Target="/ppt/notesSlides/notesSlide4.xml" Id="Rae11c3594b3348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9672f27ad4fc3" /><Relationship Type="http://schemas.openxmlformats.org/officeDocument/2006/relationships/notesSlide" Target="/ppt/notesSlides/notesSlide5.xml" Id="R0375dca173c741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ed1b69e914ecf" /><Relationship Type="http://schemas.openxmlformats.org/officeDocument/2006/relationships/notesSlide" Target="/ppt/notesSlides/notesSlide6.xml" Id="R53a03b2bc3514a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9f15d84fa490a" /><Relationship Type="http://schemas.openxmlformats.org/officeDocument/2006/relationships/notesSlide" Target="/ppt/notesSlides/notesSlide7.xml" Id="R03a5d2867eb049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b4076fa5a4d18" /><Relationship Type="http://schemas.openxmlformats.org/officeDocument/2006/relationships/notesSlide" Target="/ppt/notesSlides/notesSlide8.xml" Id="Rb371152f76164f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1421bcc934b0c" /><Relationship Type="http://schemas.openxmlformats.org/officeDocument/2006/relationships/notesSlide" Target="/ppt/notesSlides/notesSlide9.xml" Id="Ra51e2e8b1fa545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e140471c0454b" /><Relationship Type="http://schemas.openxmlformats.org/officeDocument/2006/relationships/notesSlide" Target="/ppt/notesSlides/notesSlide10.xml" Id="R4a9dfb5d7fbe4d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c0be4f04240eb" /><Relationship Type="http://schemas.openxmlformats.org/officeDocument/2006/relationships/notesSlide" Target="/ppt/notesSlides/notesSlide11.xml" Id="R3cae350915be4b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1a8adf61648cb" /><Relationship Type="http://schemas.openxmlformats.org/officeDocument/2006/relationships/notesSlide" Target="/ppt/notesSlides/notesSlide12.xml" Id="Red89c9a84a5f4e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e0064eeab4462" /><Relationship Type="http://schemas.openxmlformats.org/officeDocument/2006/relationships/notesSlide" Target="/ppt/notesSlides/notesSlide13.xml" Id="Rdd300577286745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bb6d6cecb4d0a" /><Relationship Type="http://schemas.openxmlformats.org/officeDocument/2006/relationships/notesSlide" Target="/ppt/notesSlides/notesSlide14.xml" Id="Reeca1da7748f490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36b4c4e404b75" /><Relationship Type="http://schemas.openxmlformats.org/officeDocument/2006/relationships/notesSlide" Target="/ppt/notesSlides/notesSlide15.xml" Id="Rfc719840df9142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e1bb1309c4e27" /><Relationship Type="http://schemas.openxmlformats.org/officeDocument/2006/relationships/notesSlide" Target="/ppt/notesSlides/notesSlide16.xml" Id="Rbeefef09f8c541d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cde6a44d140a0" /><Relationship Type="http://schemas.openxmlformats.org/officeDocument/2006/relationships/notesSlide" Target="/ppt/notesSlides/notesSlide17.xml" Id="R4dc233cea79b4bb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f38d5763249af" /><Relationship Type="http://schemas.openxmlformats.org/officeDocument/2006/relationships/notesSlide" Target="/ppt/notesSlides/notesSlide18.xml" Id="R54c8d15522ad4aa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51b0b2a854cd9" /><Relationship Type="http://schemas.openxmlformats.org/officeDocument/2006/relationships/notesSlide" Target="/ppt/notesSlides/notesSlide19.xml" Id="R430c3969ee47499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f8d0cee2c4648" /><Relationship Type="http://schemas.openxmlformats.org/officeDocument/2006/relationships/notesSlide" Target="/ppt/notesSlides/notesSlide20.xml" Id="R2490f0db27dd43f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1cb9568874235" /><Relationship Type="http://schemas.openxmlformats.org/officeDocument/2006/relationships/notesSlide" Target="/ppt/notesSlides/notesSlide21.xml" Id="R70fca79fd6b541d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0FADC3-24D1-4E2F-B41C-40F9B8CA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90503-CF92-4190-8C50-57A04612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39052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965AA-B6DB-41AF-823D-90BF195C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6200"/>
            <a:ext cx="952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77BFA-2E6B-41F5-B93B-15590E3F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ClawAgent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837D9-1F17-46D0-BEA8-AB33122F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Java Harness Agent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1086B-F3FA-4EAE-B13B-FF3C913B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面向 Spring Boot 业务系统落地的企业级本地行动 Agent</a:t>
            </a:r>
          </a:p>
        </p:txBody>
      </p:sp>
      <p:sp>
        <p:nvSpPr>
          <p:cNvPr id="7" name="定位">
            <a:extLst xmlns:a="http://schemas.openxmlformats.org/drawingml/2006/main">
              <a:ext uri="{FF2B5EF4-FFF2-40B4-BE49-F238E27FC236}">
                <a16:creationId xmlns:a16="http://schemas.microsoft.com/office/drawing/2014/main" id="{D479B7EB-CF87-4CFA-8ED7-03910896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219200"/>
            <a:ext cx="6286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E401B-1FD7-4396-A6D1-C8D27B0B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2192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35F62-4491-4FDD-9065-A61ED8B6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09700"/>
            <a:ext cx="586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AA4D3E-BF87-4D9E-BF2C-1C69273A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5867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可独立运行、可嵌入业务系统、可审计、可恢复、可扩展的 Spring Boot Runtime。</a:t>
            </a:r>
          </a:p>
        </p:txBody>
      </p:sp>
      <p:sp>
        <p:nvSpPr>
          <p:cNvPr id="11" name="新增重点">
            <a:extLst xmlns:a="http://schemas.openxmlformats.org/drawingml/2006/main">
              <a:ext uri="{FF2B5EF4-FFF2-40B4-BE49-F238E27FC236}">
                <a16:creationId xmlns:a16="http://schemas.microsoft.com/office/drawing/2014/main" id="{71F5FE8F-E600-4135-B402-9888AA6F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6286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1DED7-BB68-426D-9A46-4A1B56D0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527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75117-A7CC-450B-8CA7-89FC7EAF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43200"/>
            <a:ext cx="586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新增重点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F0B19-3EC1-420C-ABAB-01A8E724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5867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计划模式、自动化任务、通道与附件、权限治理、Worker/SubAgent、MCP/Skill 生态已进入主链路。</a:t>
            </a:r>
          </a:p>
        </p:txBody>
      </p:sp>
      <p:sp>
        <p:nvSpPr>
          <p:cNvPr id="15" name="核心判断">
            <a:extLst xmlns:a="http://schemas.openxmlformats.org/drawingml/2006/main">
              <a:ext uri="{FF2B5EF4-FFF2-40B4-BE49-F238E27FC236}">
                <a16:creationId xmlns:a16="http://schemas.microsoft.com/office/drawing/2014/main" id="{524D740A-2183-4630-909E-F80ACADE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86200"/>
            <a:ext cx="6286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51022-E53C-42FC-8475-BF771EBE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862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B12A8-B0A2-472F-914D-DE233AAA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76700"/>
            <a:ext cx="586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7B2F54-D935-48C6-87D2-F6F7DA12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5867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它不是通用 Agent 生态平台，而是把 Agent 能力接入 Java 企业应用的 Runtime 内核。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73C43-86EE-48ED-951E-91BE8856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项目文档 PPT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06F917-F8B9-4235-AA0E-4907B7BD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2026-07</a:t>
            </a:r>
          </a:p>
        </p:txBody>
      </p:sp>
    </p:spTree>
    <p:extLst>
      <p:ext uri="{BB962C8B-B14F-4D97-AF65-F5344CB8AC3E}">
        <p14:creationId xmlns:p14="http://schemas.microsoft.com/office/powerpoint/2010/main" val="17836788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48F2F-DA72-4E06-8003-53C3D2FE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97CD1-4C5A-407C-B3DA-29244B3B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068D1-149D-4A0C-982D-4D3A3E7E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按业务能力和 Agent 技术栈重新组织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D4622-61FF-4FD0-BF99-595E2FEA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887A2-3A5A-429D-97DE-E987F669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C61C2-5A23-4C46-9762-4EF44D1D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07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8F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C4B89-EDEB-434B-A545-B9607DDD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4859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Agent 技术栈视角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51FB6-CB43-4835-9355-C3D95C40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3352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参考图1说明模型、记忆、工具、Runtime、安全治理五层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E4132-D1F2-4D31-8AF7-2698D32F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9715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57E54-36C9-4E15-9527-32C8B354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07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8F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9C621-F35A-4913-B16A-8846FFC4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527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ClawAgent 架构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C554E-429F-4E8E-B4A6-602D8E94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0032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项目架构图、系统架构图和执行链路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F5E61-1C2C-488B-AF34-D8CCB1FB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9715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89BB7-FAF8-4150-AA7A-D9C35980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07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8F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19628-D4FF-4207-9304-D14BA049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19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新增业务功能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251A7-DAD0-4ED0-A3AC-FDC3DF48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Plan、自动化、通道附件、MCP/Skill、权限、Worker/SubAgent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E7AAA6-217A-4907-9646-732BB54D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9715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0AFF87-8C99-4BCA-B91A-C48A55A3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007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8F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47AA2-AE39-4CAD-97C3-F58B8DA3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863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场景与竞品比较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7B705-4993-46DC-BFB5-CC9CD7F8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使用场景、OpenClaw/Hermes/AgentScope 比较、优缺点和边界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C50B08-166D-4CF2-8531-3297ADD7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9715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09106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E442AB-056D-4E27-A399-0BCF01C5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1D5E7-7330-46B8-B2A3-AD7FF7F4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按图1视角：Agent 技术栈覆盖情况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4C4D9-D7FD-4D2D-B7BC-A7CD7049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从现代 Agent 通用分层看 ClawAgent 已覆盖哪些主链路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3C64C-3BFD-4F2F-829D-5E5C2F93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7BC46-BFCD-4C44-966A-CA8D1165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0135E-99AE-4AD9-961D-C1237820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BB284-73AC-4A98-8588-75C98FBE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54F23-CF38-4B7B-9AD8-17D72BBB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4859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模型层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A7A2D-2B82-4C47-9440-808512B2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4287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OpenAI-compatible / DeepSeek / Qwen / GLM 等兼容接入；Spring AI 可选适配；支持 chat、embeddings、vision 最终回复。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5FBF7-F9B1-4C76-8E7E-989627D5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DF8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9A4B9-CC9C-42AD-9BDD-81713605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823CE-7F21-4716-9A51-169DF76B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记忆层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EF78C-90FD-43B4-9837-D332F6FA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479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SQLite FTS5 + JVector + RRF 混合检索；命中记录、候选审核、长期记忆管理页。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37A247-7753-4D1B-BDFE-9B4C009D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D284E-EB6C-4357-B975-758D5FC9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25EB35-A92E-4B8C-971A-EC997E11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工具层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931C97-7EE0-4294-BAC0-B36E7674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670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内置 time/weather/web/filesystem/process/execute；业务 AgentTool Bean；MCP tools；Skill tools。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EEDB4-4018-47FD-B36D-3D18688B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DF8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6514C6-0F96-4DD7-9CA7-03BFFD34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7D5A2-8240-4E26-AEF2-127F2723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Runtime 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F2436-BA0E-4616-BBD0-22E3004B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862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DefaultAgentRuntime 管会话、任务、步骤、事件、ReAct、Tool Calling、Plan 执行、SSE。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56B4EA-9E51-4435-A90A-EBDB9C5C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58778C-9D0C-422E-80EE-413A7B57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F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C3A95E-6F60-47E7-880A-45FB911F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安全治理层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B81417-931B-412C-906D-8B07D1AF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053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ToolGuard、PendingAction、角色策略、API Token、设备、通道绑定、Rate Limit、审计与脱敏。</a:t>
            </a:r>
          </a:p>
        </p:txBody>
      </p:sp>
      <p:sp>
        <p:nvSpPr>
          <p:cNvPr id="26" name="结论">
            <a:extLst xmlns:a="http://schemas.openxmlformats.org/drawingml/2006/main">
              <a:ext uri="{FF2B5EF4-FFF2-40B4-BE49-F238E27FC236}">
                <a16:creationId xmlns:a16="http://schemas.microsoft.com/office/drawing/2014/main" id="{0D56FFD0-F239-4188-B110-61D08768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76350"/>
            <a:ext cx="2190750" cy="38290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1AFBA1-9916-478E-914E-DC3F5694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76350"/>
            <a:ext cx="762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5AB266-808F-4F4D-9BFB-354C265D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668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9AEE80-51CF-40B6-BF3B-7C4FD369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66900"/>
            <a:ext cx="17335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ClawAgent 不是大而全生态。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强项在 Java 业务落地。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评测平台、分布式观测、云沙箱仍是后续边界。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569F01-ED07-4828-86DE-87E85894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参考：用户提供的 Agent 技术栈图；本项目 README / CONFIGURATION / pom.xml。</a:t>
            </a:r>
          </a:p>
        </p:txBody>
      </p:sp>
    </p:spTree>
    <p:extLst>
      <p:ext uri="{BB962C8B-B14F-4D97-AF65-F5344CB8AC3E}">
        <p14:creationId xmlns:p14="http://schemas.microsoft.com/office/powerpoint/2010/main" val="609687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A357E1A-CBAD-41FD-B73F-351535FA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04168-6D28-4C65-BB36-04DDB83E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项目架构图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F1620-E6E8-4ACF-8C66-4F490878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从入口层、Runtime、能力扩展、数据与治理四层看模块分工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305E4-8006-4EFD-A4DB-A4889C14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A9EA1-08E7-4797-AB5A-1E4D2756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EA52F-3B1C-436B-BCF9-C6181658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8097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29CFC-87F6-4791-874B-849CE16F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620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入口与界面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6F7F8-50D3-487F-AD9F-26F03420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001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4B424-43C9-4530-8966-AFF475FE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52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REST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2B326-AEB2-4BCE-8ACF-67D41A7B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2001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98CEE-1541-4EB7-9268-30BA1F9D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352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Web Console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F16B0-B05D-4217-940A-FAA49A94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2001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875DE-7364-4397-8772-C26335E3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352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React 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866E4-8672-42CC-8928-177245B1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001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F3870-E577-4C5E-A27A-9E27EB34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52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Desktop 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103FF-7E5D-4507-824C-6E6B4BC1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2001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4B648-1951-4B79-ADED-1C5E1BF4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352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CLI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2471F-2596-40BE-B621-8C7BCBBD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2001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7CD74-6792-4BF2-846D-65A587F4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352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Channel 入站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13D170-62A5-4135-85FC-BC3FE5AC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18097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E8F152-FEAA-4245-933C-1BC9B2D4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运行主链路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EEF5E2-B057-43D4-9C1B-B4F1C3C6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764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161FBE-6BD5-448A-A77D-60D54E15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28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AgentRuntime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6B8B82-AE0A-4969-ABE6-F37AF1EE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764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963D46-77CB-4DA2-B67C-E1116DFC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28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Session/Task/Step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0441B5-0F2C-4F2C-A76E-74977BEA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764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DEDBCB-54C4-4C5F-BFFA-95C25B4F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28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Planner Router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6B1DCB-D8D0-4716-87D5-305B2392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F87E23-8676-41B5-9CC3-5FDD6160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28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ReAct Loop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695282-160B-4249-ACED-90B363F4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764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F1C560-9F64-4932-9410-808A229C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28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Tool Calling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6D5AFE-481E-4503-B970-54234A79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0764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641222-5D71-4CF9-85B8-2AEEAB70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288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SSE Event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CC6999-C790-456D-AC28-C07D15EE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8097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9511BF-FA4C-420B-85E0-6F122702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46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能力扩展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2DB161-CC72-4AEA-8281-1434C75E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527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8E47BC-4CEB-4A02-A54C-EF8BE6B4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Toolkit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774C16-BD55-4802-A9FC-F67BB120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5702BB-4B33-40DC-A4B0-F5CD1368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051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MCP Client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C132F7-D977-4DC9-ACE3-00403CFF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527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E699DA-585B-4537-A3A0-BD34EC28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051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Skill Executor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4D3D98-D1B6-420D-ACD6-7F12E06A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2B7345-D02E-4398-800F-186FCD00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AgentTool Bean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679150-F76C-4BA0-A80F-F63B3763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527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5BC265-9B04-4F6C-B49D-EF180383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051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SubAgent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16A83F-71B1-4D9C-924B-20D372F4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9527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956C18-6680-4E13-B4C8-421ABF39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051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Worker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3E28EB-2F67-4340-9E52-95398875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18097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DDA2CD-C241-4F4D-B0B1-CF61E73D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909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模型与知识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82E353C-C792-4438-8C75-0460168B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290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706B50-C29A-4E74-97F0-AD633CEB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814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OpenAI-compatible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0CEE80-41E2-4EF3-ACC3-9C78D0D2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290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2BCDCB-AE66-417D-9A37-88B3D61B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814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Spring AI optional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DF16BDD-5FCC-43EF-B18A-1F2F607D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290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9D082D6-BDAA-4437-9AB5-B7529FEE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814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Memory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AF0FAA-4010-4718-B118-F2715806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290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32BAB52-566A-42C1-8D93-38F2C839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814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Knowledge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6CED1E4-5E98-4DD4-AEBD-A647B998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290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96FE579-6D9D-479E-9BB9-4C3690E6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814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Attachment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FA6D226-519E-4E68-974B-27F98448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290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BA518A8-C0C8-4549-BE87-C6CFB1E5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9814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Embedding/JVector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74D2B6F-EFCC-491E-8AEE-68C24713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18097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E557010-1E5B-4CCF-9A47-85445BB1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672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治理与持久化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8CBB540-7188-4A33-B35C-D842A9BA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053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5D6D110-6D10-47CF-A512-56F936C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77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SQLite Store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90582F7-F588-48C6-B37A-10617289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053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3626930-51BC-4BDA-92AB-7A0F7E44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577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ToolGuard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78A4272-3C2A-4CFD-B741-633A8079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053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402608A-469C-4168-B6EC-F6CF0513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577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PendingAction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BF54827-69C2-45C5-B545-6E2DD4A9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34DCB89-CCBD-4049-8C84-C3E54D36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577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Runtime Interceptor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2764BC3-E34D-4D17-A5CF-8D6B93B0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053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46E24E1-A8A1-4AAD-B602-7E566F07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577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Auth/Device/Token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4097F38-9FA9-499D-BB6E-F9C08D04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705350"/>
            <a:ext cx="14097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2792BDB-ED81-4681-ADC6-77889502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8577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Audit/RateLimit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4216C4C-23D1-4CEB-A665-F4DEC8FE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关键设计：core / spi 不绑定 Spring；starter 负责装配；runtime 只依赖 Registry、SPI、工具、MCP、Skill、Channel 抽象。</a:t>
            </a:r>
          </a:p>
        </p:txBody>
      </p:sp>
    </p:spTree>
    <p:extLst>
      <p:ext uri="{BB962C8B-B14F-4D97-AF65-F5344CB8AC3E}">
        <p14:creationId xmlns:p14="http://schemas.microsoft.com/office/powerpoint/2010/main" val="15422744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D4427A-AC8B-4CE1-A2A0-0FFD3987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3827A-0961-45F2-82BC-FE7E5D53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系统架构图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8C8DD-627A-4ECB-B847-69F5BFEF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围绕 Spring Boot Runtime 的入口、执行、扩展、治理、存储和模型生态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F2371-654D-4F85-95C8-BB4E05E0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81BD4-57BC-4426-95F4-08F2F412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入口与通道">
            <a:extLst xmlns:a="http://schemas.openxmlformats.org/drawingml/2006/main">
              <a:ext uri="{FF2B5EF4-FFF2-40B4-BE49-F238E27FC236}">
                <a16:creationId xmlns:a16="http://schemas.microsoft.com/office/drawing/2014/main" id="{B57B69E4-E518-4379-A89A-C25A23A8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1695450" cy="37147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53532-F018-46EF-B25D-2144042E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BD175-E76B-4056-8A83-E59B61DD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入口与通道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00E7B-9DC4-4FC5-A048-9E450A5B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12382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27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Web Console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27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React Admin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27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Desktop App / CLI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27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REST API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27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飞书/钉钉/DDIO</a:t>
            </a:r>
          </a:p>
        </p:txBody>
      </p:sp>
      <p:sp>
        <p:nvSpPr>
          <p:cNvPr id="10" name="管理与治理">
            <a:extLst xmlns:a="http://schemas.openxmlformats.org/drawingml/2006/main">
              <a:ext uri="{FF2B5EF4-FFF2-40B4-BE49-F238E27FC236}">
                <a16:creationId xmlns:a16="http://schemas.microsoft.com/office/drawing/2014/main" id="{4EA1DD0B-9DBB-4FD6-891F-506DCBEB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90650"/>
            <a:ext cx="1809750" cy="3714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38E93-71FE-424F-AB59-2794A10D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9065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33764-5D8A-4803-86D2-95F2035A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811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管理与治理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40FE35-E5DD-4031-A2A2-F968088A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81200"/>
            <a:ext cx="13525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27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Admin 配置中心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27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审批策略/高危工具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27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Audit Log / 事件回放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27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Token / Cost 统计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27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设备配对/角色策略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92E19-F007-444A-AAEB-D75BAC1E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95400"/>
            <a:ext cx="6572250" cy="386715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8DB9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74083-03D3-4FD9-9904-68B76D86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95400"/>
            <a:ext cx="6572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D77B2E-3F3F-4E91-812F-10233C6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43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ClawAgent Server / Spring Boot</a:t>
            </a:r>
          </a:p>
        </p:txBody>
      </p:sp>
      <p:sp>
        <p:nvSpPr>
          <p:cNvPr id="17" name="Controller / API Layer">
            <a:extLst xmlns:a="http://schemas.openxmlformats.org/drawingml/2006/main">
              <a:ext uri="{FF2B5EF4-FFF2-40B4-BE49-F238E27FC236}">
                <a16:creationId xmlns:a16="http://schemas.microsoft.com/office/drawing/2014/main" id="{658BF402-01FE-4351-A3E7-26DC092B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38350"/>
            <a:ext cx="16192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BBF59-0BB1-49CF-BE45-75A7B504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3360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Controller / API Layer</a:t>
            </a:r>
          </a:p>
        </p:txBody>
      </p:sp>
      <p:sp>
        <p:nvSpPr>
          <p:cNvPr id="19" name="Channel Gateway">
            <a:extLst xmlns:a="http://schemas.openxmlformats.org/drawingml/2006/main">
              <a:ext uri="{FF2B5EF4-FFF2-40B4-BE49-F238E27FC236}">
                <a16:creationId xmlns:a16="http://schemas.microsoft.com/office/drawing/2014/main" id="{F088741F-F245-4819-ADED-3F00A811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38350"/>
            <a:ext cx="16192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D4E2B-B292-4759-BFE5-B17CF20F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3360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Channel Gateway</a:t>
            </a:r>
          </a:p>
        </p:txBody>
      </p:sp>
      <p:sp>
        <p:nvSpPr>
          <p:cNvPr id="21" name="Admin Service">
            <a:extLst xmlns:a="http://schemas.openxmlformats.org/drawingml/2006/main">
              <a:ext uri="{FF2B5EF4-FFF2-40B4-BE49-F238E27FC236}">
                <a16:creationId xmlns:a16="http://schemas.microsoft.com/office/drawing/2014/main" id="{5BF30414-6BB5-4A20-9D57-09DD4DE3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38350"/>
            <a:ext cx="16192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AEEFD9-94F9-4649-87FA-9B3F8772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3360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Admin Service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2BD12-7B01-43B8-945C-0483D7C7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28900"/>
            <a:ext cx="5334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CD0F6B-436C-488D-97DE-26005A8F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19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DefaultAgentRuntime</a:t>
            </a:r>
          </a:p>
        </p:txBody>
      </p:sp>
      <p:sp>
        <p:nvSpPr>
          <p:cNvPr id="25" name="Planner Router">
            <a:extLst xmlns:a="http://schemas.openxmlformats.org/drawingml/2006/main">
              <a:ext uri="{FF2B5EF4-FFF2-40B4-BE49-F238E27FC236}">
                <a16:creationId xmlns:a16="http://schemas.microsoft.com/office/drawing/2014/main" id="{45B5E5A1-B2D5-4D89-B4CD-15D1C17D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57550"/>
            <a:ext cx="1447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A46102-44ED-484C-8F6D-A5DD3ED0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528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Planner Router</a:t>
            </a:r>
          </a:p>
        </p:txBody>
      </p:sp>
      <p:sp>
        <p:nvSpPr>
          <p:cNvPr id="27" name="Session / Task / Step">
            <a:extLst xmlns:a="http://schemas.openxmlformats.org/drawingml/2006/main">
              <a:ext uri="{FF2B5EF4-FFF2-40B4-BE49-F238E27FC236}">
                <a16:creationId xmlns:a16="http://schemas.microsoft.com/office/drawing/2014/main" id="{62733733-5F6F-49EC-989E-32B40E20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57550"/>
            <a:ext cx="1447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C9EFF7-3228-4E8D-808A-2286A9A3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528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Session / Task / Step</a:t>
            </a:r>
          </a:p>
        </p:txBody>
      </p:sp>
      <p:sp>
        <p:nvSpPr>
          <p:cNvPr id="29" name="SSE Event Stream">
            <a:extLst xmlns:a="http://schemas.openxmlformats.org/drawingml/2006/main">
              <a:ext uri="{FF2B5EF4-FFF2-40B4-BE49-F238E27FC236}">
                <a16:creationId xmlns:a16="http://schemas.microsoft.com/office/drawing/2014/main" id="{5C8E5457-3DF2-427A-A0E3-79BA0CA4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57550"/>
            <a:ext cx="14478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924E73-06A5-44E2-AE23-A2AF2889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SSE Event Stream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1A2AC5-1E15-4A56-9A9E-16AE783E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81450"/>
            <a:ext cx="5334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2" name="AgentToolRegistry">
            <a:extLst xmlns:a="http://schemas.openxmlformats.org/drawingml/2006/main">
              <a:ext uri="{FF2B5EF4-FFF2-40B4-BE49-F238E27FC236}">
                <a16:creationId xmlns:a16="http://schemas.microsoft.com/office/drawing/2014/main" id="{07386F3B-0C3E-45F8-B095-EB1AB42A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67200"/>
            <a:ext cx="14287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FF5D64-1EDA-482C-81FE-2C239AC0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624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AgentToolRegistry</a:t>
            </a:r>
          </a:p>
        </p:txBody>
      </p:sp>
      <p:sp>
        <p:nvSpPr>
          <p:cNvPr id="34" name="ToolExecutionGuard">
            <a:extLst xmlns:a="http://schemas.openxmlformats.org/drawingml/2006/main">
              <a:ext uri="{FF2B5EF4-FFF2-40B4-BE49-F238E27FC236}">
                <a16:creationId xmlns:a16="http://schemas.microsoft.com/office/drawing/2014/main" id="{990A2440-E542-4B6F-B2ED-85078BC4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67200"/>
            <a:ext cx="14287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314236-AA94-49D9-AE57-CA033C0B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624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ToolExecutionGuard</a:t>
            </a:r>
          </a:p>
        </p:txBody>
      </p:sp>
      <p:sp>
        <p:nvSpPr>
          <p:cNvPr id="36" name="RuntimeInterceptor">
            <a:extLst xmlns:a="http://schemas.openxmlformats.org/drawingml/2006/main">
              <a:ext uri="{FF2B5EF4-FFF2-40B4-BE49-F238E27FC236}">
                <a16:creationId xmlns:a16="http://schemas.microsoft.com/office/drawing/2014/main" id="{0F701AC1-6BE3-4226-82FD-DC892DBF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67200"/>
            <a:ext cx="14287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3174C6-49BA-44CD-A695-1A69931B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624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RuntimeInterceptor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BD4A7A-196D-4D3F-8931-C3CA7B09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0763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737DA9-8F49-4045-A173-95A60EB8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0763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CFAA64-83C0-4CE4-838D-A6CD361A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388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数据、模型与扩展生态</a:t>
            </a:r>
          </a:p>
        </p:txBody>
      </p:sp>
      <p:sp>
        <p:nvSpPr>
          <p:cNvPr id="41" name="SQLite Store">
            <a:extLst xmlns:a="http://schemas.openxmlformats.org/drawingml/2006/main">
              <a:ext uri="{FF2B5EF4-FFF2-40B4-BE49-F238E27FC236}">
                <a16:creationId xmlns:a16="http://schemas.microsoft.com/office/drawing/2014/main" id="{3CC0CBCB-FFCB-4673-B7F3-4D80468C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67400"/>
            <a:ext cx="17526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B8D518-C722-4FF0-B197-9FB1FEC1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626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SQLite Store</a:t>
            </a:r>
          </a:p>
        </p:txBody>
      </p:sp>
      <p:sp>
        <p:nvSpPr>
          <p:cNvPr id="43" name="Memory: FTS5 + JVector">
            <a:extLst xmlns:a="http://schemas.openxmlformats.org/drawingml/2006/main">
              <a:ext uri="{FF2B5EF4-FFF2-40B4-BE49-F238E27FC236}">
                <a16:creationId xmlns:a16="http://schemas.microsoft.com/office/drawing/2014/main" id="{35A09A45-4D1B-4C82-9F64-2049E64A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867400"/>
            <a:ext cx="17526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245002-435A-4BD8-ACB7-0888B051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626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Memory: FTS5 + JVector</a:t>
            </a:r>
          </a:p>
        </p:txBody>
      </p:sp>
      <p:sp>
        <p:nvSpPr>
          <p:cNvPr id="45" name=".clawagent Workspace">
            <a:extLst xmlns:a="http://schemas.openxmlformats.org/drawingml/2006/main">
              <a:ext uri="{FF2B5EF4-FFF2-40B4-BE49-F238E27FC236}">
                <a16:creationId xmlns:a16="http://schemas.microsoft.com/office/drawing/2014/main" id="{153C0C1E-1B57-4A47-9DE8-E9DDD731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67400"/>
            <a:ext cx="17526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E00F6B-AB26-450B-849C-3E560EB4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9626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.clawagent Workspace</a:t>
            </a:r>
          </a:p>
        </p:txBody>
      </p:sp>
      <p:sp>
        <p:nvSpPr>
          <p:cNvPr id="47" name="OpenAI-compatible / Spring AI">
            <a:extLst xmlns:a="http://schemas.openxmlformats.org/drawingml/2006/main">
              <a:ext uri="{FF2B5EF4-FFF2-40B4-BE49-F238E27FC236}">
                <a16:creationId xmlns:a16="http://schemas.microsoft.com/office/drawing/2014/main" id="{ECC9D57A-A2A7-45A5-A42D-E06FDF69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867400"/>
            <a:ext cx="17526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961D22-7915-4A86-8344-8CFE470B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9626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OpenAI-compatible / Spring AI</a:t>
            </a:r>
          </a:p>
        </p:txBody>
      </p:sp>
      <p:sp>
        <p:nvSpPr>
          <p:cNvPr id="49" name="MCP / Skills / AgentTool">
            <a:extLst xmlns:a="http://schemas.openxmlformats.org/drawingml/2006/main">
              <a:ext uri="{FF2B5EF4-FFF2-40B4-BE49-F238E27FC236}">
                <a16:creationId xmlns:a16="http://schemas.microsoft.com/office/drawing/2014/main" id="{FD27B395-C0D0-4728-9176-DB83AD4F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867400"/>
            <a:ext cx="17526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FF7218-9048-4ACD-BABD-73BA4615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962650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MCP / Skills / AgentTool</a:t>
            </a:r>
          </a:p>
        </p:txBody>
      </p:sp>
    </p:spTree>
    <p:extLst>
      <p:ext uri="{BB962C8B-B14F-4D97-AF65-F5344CB8AC3E}">
        <p14:creationId xmlns:p14="http://schemas.microsoft.com/office/powerpoint/2010/main" val="3051037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C97EF2-ABF7-4217-A826-DAAA709F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DF40D-6BD2-4140-9DF2-841418AA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任务执行链路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C6581C-6195-410F-9BB8-FAC5445E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默认 ReAct 主链路，同时兼容简单问答和原生 Tool Calling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5153F-422D-4AE7-9B77-B69D5DA8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2FAEE-22A1-4062-8015-0FA65523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D2B2A-DE4C-4AA7-BCCF-DA8F5AE3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0200"/>
            <a:ext cx="1447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E0AD0-1036-47B6-8D59-CC2DF302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B9681-A61F-4AEC-A5D9-94F317CE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8F270-777F-4F8F-8965-8A0A548C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接收请求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D9FB1-5D78-42D6-8F2D-DBC3B08F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REST / UI / Channel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携带 user、device、session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20974-BD3A-4044-8F4E-18B1AA23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717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DD5AF-4F9C-4FEC-914F-245F3806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00200"/>
            <a:ext cx="1447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B982E-F668-493C-BDFE-7FAE4EF9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1C896-1AAB-4D47-BF4B-A489C3A5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288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D4F31-436E-45A3-972A-14940743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098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策略前置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D9C83-680B-4DA0-8457-4978C197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336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身份、RateLimit、系统意图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PendingAction 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5F798-2CD7-46BF-8009-1847A291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717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C3A2F4-3961-44A0-8522-8722FF21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00200"/>
            <a:ext cx="1447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DB0271-6788-4758-8D5F-E6AC413D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A92E4-6BB6-487B-97C2-EA2F601E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288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02DA51-4381-4A00-B000-6E4594A3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规划执行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658E6-23AB-4E23-BFA3-3F95F413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336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ReAct / Tool Calling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生成 Todo 与工具调用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DA90F-4E14-4B5A-BDBE-69AE1A52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717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898349-6100-4640-B5D5-2DDCCF2F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1447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203AB7-5578-4189-97C8-EE03C497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458D3B-A4C0-49EA-9D8D-9B6D7FBA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288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026CA7-1A03-4E20-9E7A-A38B9610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工具治理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ED0DB0-5200-449E-859C-5299E8AD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336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ToolGuard 风险判断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审批、隔离、审计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EB014B-E217-4C39-96D7-F62B1BA2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717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FC706F-3F92-43AA-9004-73EDDAD9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00200"/>
            <a:ext cx="1447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1FC044-65EB-4644-8C84-4AA0FFF3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B2BE10-3080-4BF3-9DB5-8F1B4B89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288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76BD1E-E2A3-4567-BDF1-60B5CB74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观察与续跑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352993-776A-45FC-B856-515A842A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336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保存 step/event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失败可 checkpoint/resume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FCAB00-D584-48B1-A725-0ABE56AA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71700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01533F-E36F-499E-8C5B-402EBE5A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00200"/>
            <a:ext cx="1447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8D1AC7-CB3E-42A9-A1F2-7F5715E0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BE005B-DBE4-42E1-8741-82CD4892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28800"/>
            <a:ext cx="323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009F2D-1AD1-4CD1-8623-97C491D9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2098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最终回复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63341C-B00C-40C3-87AB-BD01B98D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336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流式 llm.delta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Token 和审计聚合</a:t>
            </a:r>
          </a:p>
        </p:txBody>
      </p:sp>
      <p:sp>
        <p:nvSpPr>
          <p:cNvPr id="41" name="为什么默认 ReAct">
            <a:extLst xmlns:a="http://schemas.openxmlformats.org/drawingml/2006/main">
              <a:ext uri="{FF2B5EF4-FFF2-40B4-BE49-F238E27FC236}">
                <a16:creationId xmlns:a16="http://schemas.microsoft.com/office/drawing/2014/main" id="{726BF6D0-5E7E-489C-B04B-C5AECD2B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A9B3D1-B6F3-48A2-A02B-EC34DB09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796709-B37C-4ADD-8F6C-57F4BE4B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为什么默认 ReAct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D307E3-41C7-41F9-8DF8-810432A0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53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用户输入不可预测，ReAct 能先思考、再调用工具、再观察结果并继续决策，适合复杂任务和多工具链路。</a:t>
            </a:r>
          </a:p>
        </p:txBody>
      </p:sp>
      <p:sp>
        <p:nvSpPr>
          <p:cNvPr id="45" name="如何兼容 single / tool-calling">
            <a:extLst xmlns:a="http://schemas.openxmlformats.org/drawingml/2006/main">
              <a:ext uri="{FF2B5EF4-FFF2-40B4-BE49-F238E27FC236}">
                <a16:creationId xmlns:a16="http://schemas.microsoft.com/office/drawing/2014/main" id="{79E3DEAA-F157-4B7C-8920-3284640D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66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A1E078-F6C3-4555-AD41-BD708D55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66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936F5B-09BE-4723-9E89-9290AC0C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671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如何兼容 single / tool-calling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4E8B6F-B014-48A3-9F26-6C2EEE22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533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简单意图可走一次模型或直接工具；模型支持原生 tool_calls 时走 Tool Calling；复杂任务仍回到 ReAct。</a:t>
            </a:r>
          </a:p>
        </p:txBody>
      </p:sp>
    </p:spTree>
    <p:extLst>
      <p:ext uri="{BB962C8B-B14F-4D97-AF65-F5344CB8AC3E}">
        <p14:creationId xmlns:p14="http://schemas.microsoft.com/office/powerpoint/2010/main" val="20636637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DF0A2E-F75F-42D6-AF95-9AE59C18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31C1F-D90B-42FF-9B82-97811EEB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新增业务功能总览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695FB-B86E-4148-8814-51292C96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从“能跑 Agent”升级到“能管、能审、能自动化、能接入业务”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4B281-3ADB-425C-AEED-0A5ABD73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D6EDD-7DE2-4B19-9765-3E9352F4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Plan 计划模式">
            <a:extLst xmlns:a="http://schemas.openxmlformats.org/drawingml/2006/main">
              <a:ext uri="{FF2B5EF4-FFF2-40B4-BE49-F238E27FC236}">
                <a16:creationId xmlns:a16="http://schemas.microsoft.com/office/drawing/2014/main" id="{C84E1140-164C-43D9-BA9A-50489A66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B6208-D814-4EA4-A0DF-A778915B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5F609-5B19-4F26-9AF4-47E52845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811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Plan 计划模式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38193-EAEB-430B-9D46-37F49A6E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先生成计划，再修订、确认、执行；支持模板和差异摘要。</a:t>
            </a:r>
          </a:p>
        </p:txBody>
      </p:sp>
      <p:sp>
        <p:nvSpPr>
          <p:cNvPr id="10" name="自动化任务">
            <a:extLst xmlns:a="http://schemas.openxmlformats.org/drawingml/2006/main">
              <a:ext uri="{FF2B5EF4-FFF2-40B4-BE49-F238E27FC236}">
                <a16:creationId xmlns:a16="http://schemas.microsoft.com/office/drawing/2014/main" id="{D6A8D551-11C9-4633-9D62-2B5C4126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906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A81D8-22BC-4F18-AB8A-1B1276A3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906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22AD6-0569-4696-96BA-47B26E06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811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自动化任务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A35124-5B3C-4DA4-8868-4069DA61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固定间隔、Cron、单次执行、立即运行、重试退避和历史记录。</a:t>
            </a:r>
          </a:p>
        </p:txBody>
      </p:sp>
      <p:sp>
        <p:nvSpPr>
          <p:cNvPr id="14" name="通道与附件">
            <a:extLst xmlns:a="http://schemas.openxmlformats.org/drawingml/2006/main">
              <a:ext uri="{FF2B5EF4-FFF2-40B4-BE49-F238E27FC236}">
                <a16:creationId xmlns:a16="http://schemas.microsoft.com/office/drawing/2014/main" id="{DB06E5BC-9239-40B4-A267-B929A05B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906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A34FB-1805-4BE1-A1AD-6D7D9CEB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906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E3BC8-9FF9-44A5-92D3-81DB572B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811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通道与附件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732DE-DBF2-45D2-9030-E0A4F119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621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飞书/钉钉/DDIO，媒体缓存、附件解析、富文本摘要。</a:t>
            </a:r>
          </a:p>
        </p:txBody>
      </p:sp>
      <p:sp>
        <p:nvSpPr>
          <p:cNvPr id="18" name="身份与权限">
            <a:extLst xmlns:a="http://schemas.openxmlformats.org/drawingml/2006/main">
              <a:ext uri="{FF2B5EF4-FFF2-40B4-BE49-F238E27FC236}">
                <a16:creationId xmlns:a16="http://schemas.microsoft.com/office/drawing/2014/main" id="{DDF6AFF0-1D3D-4896-9918-59579A6D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BD536A-36BC-4446-8DB4-4843263E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F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AD1FE0-0269-4194-8C23-768AAA31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身份与权限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F4FF8F-CCB1-4B1D-BEE8-60F5A852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本地用户、API Token、设备配对、通道绑定、角色策略。</a:t>
            </a:r>
          </a:p>
        </p:txBody>
      </p:sp>
      <p:sp>
        <p:nvSpPr>
          <p:cNvPr id="22" name="Worker/SubAgent">
            <a:extLst xmlns:a="http://schemas.openxmlformats.org/drawingml/2006/main">
              <a:ext uri="{FF2B5EF4-FFF2-40B4-BE49-F238E27FC236}">
                <a16:creationId xmlns:a16="http://schemas.microsoft.com/office/drawing/2014/main" id="{BA57BAC2-1A9E-43C7-8E86-7145186A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B453EA-4CFB-4395-A61A-1BC0F713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D336AC-9363-4870-91EA-CE12E47A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05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Worker/SubAgent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C5EB04-64B1-4B36-9B2A-F21E4551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862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高危命令独立 JVM 隔离，子 Agent 单个/批量/并行派发。</a:t>
            </a:r>
          </a:p>
        </p:txBody>
      </p:sp>
      <p:sp>
        <p:nvSpPr>
          <p:cNvPr id="26" name="MCP/Skill 生态">
            <a:extLst xmlns:a="http://schemas.openxmlformats.org/drawingml/2006/main">
              <a:ext uri="{FF2B5EF4-FFF2-40B4-BE49-F238E27FC236}">
                <a16:creationId xmlns:a16="http://schemas.microsoft.com/office/drawing/2014/main" id="{9C193433-38DF-472B-8005-5E8A7177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147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90D750-88B0-4D32-9FE4-AC30CF5E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147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BB1FFD-5C21-4F91-94C5-BF9B569D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05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MCP/Skill 生态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9617C0-74B5-4262-A880-04D7610B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862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STDIO/HTTP/SSE MCP，Skill 安装启停和多执行器。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6213B8-3DD5-4417-80BF-C39E0777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业务价值：降低接入成本、把高危动作纳入审批和隔离、让 IM/桌面/后台任务共享同一套 Runtime。</a:t>
            </a:r>
          </a:p>
        </p:txBody>
      </p:sp>
    </p:spTree>
    <p:extLst>
      <p:ext uri="{BB962C8B-B14F-4D97-AF65-F5344CB8AC3E}">
        <p14:creationId xmlns:p14="http://schemas.microsoft.com/office/powerpoint/2010/main" val="10160411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6173EE-F09E-49E7-8DAC-C04CB081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B6179-ECDB-4D11-99CA-B7EBC129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Plan 计划模式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04287-AC0A-4A34-A3B1-C551F36B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适合复杂需求：先计划、可修改、再执行，而不是直接开跑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EA0F5-C9AD-4945-8A98-E41394CE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36DF6-ECC6-4F6D-8988-28FB9096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需求输入">
            <a:extLst xmlns:a="http://schemas.openxmlformats.org/drawingml/2006/main">
              <a:ext uri="{FF2B5EF4-FFF2-40B4-BE49-F238E27FC236}">
                <a16:creationId xmlns:a16="http://schemas.microsoft.com/office/drawing/2014/main" id="{65465BC6-8B36-4367-A70F-331A33F1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3525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46BBE-C845-40B2-98A6-3271D33F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需求输入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9D0D4-B077-4D99-B724-24CFCE44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724025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9" name="生成 PlanDraft">
            <a:extLst xmlns:a="http://schemas.openxmlformats.org/drawingml/2006/main">
              <a:ext uri="{FF2B5EF4-FFF2-40B4-BE49-F238E27FC236}">
                <a16:creationId xmlns:a16="http://schemas.microsoft.com/office/drawing/2014/main" id="{2B27EC44-ADBE-4828-BABB-300F3E71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676400"/>
            <a:ext cx="13525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3CD20-C59A-454D-979E-C1627B8C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716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生成 PlanDraft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28778-B140-4900-AD35-F6B310D3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24025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2" name="用户修订/确认">
            <a:extLst xmlns:a="http://schemas.openxmlformats.org/drawingml/2006/main">
              <a:ext uri="{FF2B5EF4-FFF2-40B4-BE49-F238E27FC236}">
                <a16:creationId xmlns:a16="http://schemas.microsoft.com/office/drawing/2014/main" id="{7A6DC3D7-A182-42E1-9948-4B8597A5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76400"/>
            <a:ext cx="13525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F8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C44B1-4B45-43EB-885B-A5A03D44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716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用户修订/确认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CD919-BF27-4448-A023-113ECBF0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24025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转换 Todo">
            <a:extLst xmlns:a="http://schemas.openxmlformats.org/drawingml/2006/main">
              <a:ext uri="{FF2B5EF4-FFF2-40B4-BE49-F238E27FC236}">
                <a16:creationId xmlns:a16="http://schemas.microsoft.com/office/drawing/2014/main" id="{AF940393-2C65-4ED3-9B8A-5DADD80E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76400"/>
            <a:ext cx="13525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F8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61068E-ADDB-4ADC-AD65-6167ED84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716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转换 Todo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38A12A-91E7-4F93-9879-B13F1387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24025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8" name="执行 SSE">
            <a:extLst xmlns:a="http://schemas.openxmlformats.org/drawingml/2006/main">
              <a:ext uri="{FF2B5EF4-FFF2-40B4-BE49-F238E27FC236}">
                <a16:creationId xmlns:a16="http://schemas.microsoft.com/office/drawing/2014/main" id="{7EC2A17E-89C7-435C-9131-A2952572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13525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A35C8-1FCC-41A8-9854-4FBF9C17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716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执行 SSE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61F633-4FE9-4A1F-AC8F-7B9ACCCE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24025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1" name="审计差异">
            <a:extLst xmlns:a="http://schemas.openxmlformats.org/drawingml/2006/main">
              <a:ext uri="{FF2B5EF4-FFF2-40B4-BE49-F238E27FC236}">
                <a16:creationId xmlns:a16="http://schemas.microsoft.com/office/drawing/2014/main" id="{92F1E5C9-3404-42A2-9907-E2BB8B56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676400"/>
            <a:ext cx="13525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7D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166F26-3770-4E68-8DE2-CCF9B088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716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审计差异</a:t>
            </a:r>
          </a:p>
        </p:txBody>
      </p:sp>
      <p:sp>
        <p:nvSpPr>
          <p:cNvPr id="23" name="已经具备">
            <a:extLst xmlns:a="http://schemas.openxmlformats.org/drawingml/2006/main">
              <a:ext uri="{FF2B5EF4-FFF2-40B4-BE49-F238E27FC236}">
                <a16:creationId xmlns:a16="http://schemas.microsoft.com/office/drawing/2014/main" id="{E73180BB-90D2-4966-A7CE-9E5B57AC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3257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86A7FB-4691-410A-8D4D-FAA552CE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DECC2B-D6F3-4874-9F73-E3F55FE1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已经具备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CA8321-3497-4916-B844-B5A739E0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PlanDraft / PlanItem / PlanStore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SQLite agent_plan 持久化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生成、修订、确认、取消、执行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内置 local-dev / bugfix 等模板</a:t>
            </a:r>
          </a:p>
        </p:txBody>
      </p:sp>
      <p:sp>
        <p:nvSpPr>
          <p:cNvPr id="27" name="前端体验">
            <a:extLst xmlns:a="http://schemas.openxmlformats.org/drawingml/2006/main">
              <a:ext uri="{FF2B5EF4-FFF2-40B4-BE49-F238E27FC236}">
                <a16:creationId xmlns:a16="http://schemas.microsoft.com/office/drawing/2014/main" id="{65D58D23-DE68-48DF-A286-517BF69E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05100"/>
            <a:ext cx="3257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6917E6-DFA1-44AC-A4F8-A5686D43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0510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C097F5-2037-42B6-9AF2-70056714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956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前端体验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46CA45-A940-4B34-8FA6-12DBA09F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956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Admin/App 支持计划开关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/plan 指令直接创建计划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计划卡片展示版本差异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执行阻塞时可修订后继续</a:t>
            </a:r>
          </a:p>
        </p:txBody>
      </p:sp>
      <p:sp>
        <p:nvSpPr>
          <p:cNvPr id="31" name="设计边界">
            <a:extLst xmlns:a="http://schemas.openxmlformats.org/drawingml/2006/main">
              <a:ext uri="{FF2B5EF4-FFF2-40B4-BE49-F238E27FC236}">
                <a16:creationId xmlns:a16="http://schemas.microsoft.com/office/drawing/2014/main" id="{0B949425-824A-4D01-ADC0-E21445C2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32575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3374A6-69CC-47F3-A125-8CFC7A42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A48277-DA33-4ECE-A333-4DA988E0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956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设计边界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CFF877-91A8-4AEA-A241-14F57986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56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不另造第二套执行引擎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确认后复用 Runtime/Todo/ToolGuard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高危步骤仍走审批和隔离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后续优化自动重规划策略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61E20C-C8EA-4AD7-922B-20BDC413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来源：README Plan API / 当前完成情况。</a:t>
            </a:r>
          </a:p>
        </p:txBody>
      </p:sp>
    </p:spTree>
    <p:extLst>
      <p:ext uri="{BB962C8B-B14F-4D97-AF65-F5344CB8AC3E}">
        <p14:creationId xmlns:p14="http://schemas.microsoft.com/office/powerpoint/2010/main" val="6526967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32064F-D102-4E42-B407-153D653F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3EDF0-5F6C-4C9D-8D76-1F887404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智能体自动化任务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7EA97-EF9C-4479-BC19-5B8C1BFF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把一次性 Agent 调用扩展成可运维的周期任务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5F9BE-D235-4FC7-A04C-D2BBB28B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F3D14-CE47-4320-9E95-496C8B86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调度能力">
            <a:extLst xmlns:a="http://schemas.openxmlformats.org/drawingml/2006/main">
              <a:ext uri="{FF2B5EF4-FFF2-40B4-BE49-F238E27FC236}">
                <a16:creationId xmlns:a16="http://schemas.microsoft.com/office/drawing/2014/main" id="{BA8287AC-BBD3-4F72-9048-4340BC8B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3190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9678E-2D9F-4033-B65B-DEE84586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F4EBB-4057-46F6-A00E-B3F41D7D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调度能力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0676D-0D41-4498-9A6B-E025EAC5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2733675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固定间隔执行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Cron 表达式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单次计划任务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立即运行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启用/暂停/编辑</a:t>
            </a:r>
          </a:p>
        </p:txBody>
      </p:sp>
      <p:sp>
        <p:nvSpPr>
          <p:cNvPr id="10" name="失败治理">
            <a:extLst xmlns:a="http://schemas.openxmlformats.org/drawingml/2006/main">
              <a:ext uri="{FF2B5EF4-FFF2-40B4-BE49-F238E27FC236}">
                <a16:creationId xmlns:a16="http://schemas.microsoft.com/office/drawing/2014/main" id="{25C8C1F4-3529-4BC0-A1FD-F5487CA1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09700"/>
            <a:ext cx="3190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B3484-9F50-448C-BF73-D4923C0E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097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F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C89B9-E23C-4EA7-9266-5327E80E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0020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失败治理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190F3-9A0D-4FD7-AA6D-301C6972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00250"/>
            <a:ext cx="2733675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失败重试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退避策略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重试耗尽后暂停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运行历史保留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异常链路可追踪</a:t>
            </a:r>
          </a:p>
        </p:txBody>
      </p:sp>
      <p:sp>
        <p:nvSpPr>
          <p:cNvPr id="14" name="运营指标">
            <a:extLst xmlns:a="http://schemas.openxmlformats.org/drawingml/2006/main">
              <a:ext uri="{FF2B5EF4-FFF2-40B4-BE49-F238E27FC236}">
                <a16:creationId xmlns:a16="http://schemas.microsoft.com/office/drawing/2014/main" id="{84F065D9-1493-4F6A-8CD6-267B2CEF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09700"/>
            <a:ext cx="3190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E08A0-0DBF-47CC-9475-EEC5E542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097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94B40-4B31-4A20-AB67-D69B0B8C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00200"/>
            <a:ext cx="2771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运营指标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674EA-AD4A-4A55-ABC7-3A8EDC82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2733675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耗时聚合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Token 聚合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工具链路聚合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管理台页面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适合巡检/日报/同步任务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EBD011-5AA6-4B3D-876E-F6AC9283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典型场景：每天巡检接口状态、定时总结群消息、定期扫描项目文档、失败后自动重试并保留审计记录。</a:t>
            </a:r>
          </a:p>
        </p:txBody>
      </p:sp>
    </p:spTree>
    <p:extLst>
      <p:ext uri="{BB962C8B-B14F-4D97-AF65-F5344CB8AC3E}">
        <p14:creationId xmlns:p14="http://schemas.microsoft.com/office/powerpoint/2010/main" val="21373772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B82511-F460-4957-B5C1-75310F7F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F768A-3E8A-49F7-9709-08E565EE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通道、附件与知识库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A9952-3DFF-4039-A162-3CA3FD04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让 IM 消息、文件和本地知识进入同一条 Agent 执行链路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42B9A-B20B-4C0C-857E-87F90A76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79AA8-6066-40B2-B8C9-A6AF6E88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通道入口">
            <a:extLst xmlns:a="http://schemas.openxmlformats.org/drawingml/2006/main">
              <a:ext uri="{FF2B5EF4-FFF2-40B4-BE49-F238E27FC236}">
                <a16:creationId xmlns:a16="http://schemas.microsoft.com/office/drawing/2014/main" id="{54161654-2827-446E-9D03-AE3DDFF6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42912-9561-4D50-959E-9151B011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482E7-4FFC-4F40-A95E-8A98DC27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430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通道入口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3D128-EDC8-41AB-B29E-660553A5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飞书、钉钉、DDIO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HTTP / Stream / Bot 标准事件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Channel 外部用户绑定本地用户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事件语义 metadata</a:t>
            </a:r>
          </a:p>
        </p:txBody>
      </p:sp>
      <p:sp>
        <p:nvSpPr>
          <p:cNvPr id="10" name="媒体与附件">
            <a:extLst xmlns:a="http://schemas.openxmlformats.org/drawingml/2006/main">
              <a:ext uri="{FF2B5EF4-FFF2-40B4-BE49-F238E27FC236}">
                <a16:creationId xmlns:a16="http://schemas.microsoft.com/office/drawing/2014/main" id="{04E49E2A-0226-456E-B7C2-FA4338EB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5255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A6059-C04A-4605-8E68-C9F2112B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52550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5AF93-1386-4B33-92E8-AD49E4A6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5430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媒体与附件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54E58-3909-40D6-ABD8-BD92BF76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43100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媒体 URL / 大小 / 超时限制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钉钉 downloadCode 下载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附件存在标记与下载状态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富文本统一 Markdown 摘要</a:t>
            </a:r>
          </a:p>
        </p:txBody>
      </p:sp>
      <p:sp>
        <p:nvSpPr>
          <p:cNvPr id="14" name="知识与记忆">
            <a:extLst xmlns:a="http://schemas.openxmlformats.org/drawingml/2006/main">
              <a:ext uri="{FF2B5EF4-FFF2-40B4-BE49-F238E27FC236}">
                <a16:creationId xmlns:a16="http://schemas.microsoft.com/office/drawing/2014/main" id="{FB780A61-8B76-4276-BF14-9CA250F0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52550"/>
            <a:ext cx="3333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C3B34-CE77-4BA8-943A-8A438F6B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52550"/>
            <a:ext cx="76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DEF28-AC42-4B2B-9A35-18EBD10F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430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知识与记忆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897EB-81D6-459C-8252-76442E63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43100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AttachmentService 写入知识库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KnowledgeService 补充上下文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SQLite FTS5 + JVector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命中记录和候选审核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D8FBF-A88E-42A4-9744-0A54C740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29050"/>
            <a:ext cx="971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79EFE8-6ECA-4414-9EB4-21E24D9E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1480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处理路径：通道消息 -&gt; ChannelRouter -&gt; PendingAction / 系统意图 -&gt; 附件解析与知识检索 -&gt; AgentRuntime -&gt; 回复到原通道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EA9D6-4FAC-4FEA-B3F2-69A59706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来源：README 通道、系统意图、附件与知识库说明；CONFIGURATION 文档。</a:t>
            </a:r>
          </a:p>
        </p:txBody>
      </p:sp>
    </p:spTree>
    <p:extLst>
      <p:ext uri="{BB962C8B-B14F-4D97-AF65-F5344CB8AC3E}">
        <p14:creationId xmlns:p14="http://schemas.microsoft.com/office/powerpoint/2010/main" val="12510044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900ABA-0CAF-46B5-B9B9-6CEA5C57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90BC5-EB17-4923-8C7E-C6A6A2C5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MCP、Skill 与 Toolkit 生态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801F0-B002-444C-87B0-407C8C00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统一注册到 AgentToolRegistry，业务工具和外部工具同一套治理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9DD69-C413-4DCE-AC2B-A4F1BC36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CA63D-B4B5-4570-97EF-C29FD631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MCP">
            <a:extLst xmlns:a="http://schemas.openxmlformats.org/drawingml/2006/main">
              <a:ext uri="{FF2B5EF4-FFF2-40B4-BE49-F238E27FC236}">
                <a16:creationId xmlns:a16="http://schemas.microsoft.com/office/drawing/2014/main" id="{B59058C7-9314-44DE-8F92-B8F4A28B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238500" cy="3333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4758C-E4E9-45E1-9A69-B2D0C52A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E2816-F4D0-4DC0-ABA6-68472DF0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MCP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949D7-49DE-40FA-B6A3-FAC65A4E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27813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STDIO 启动、握手、tools/list、tools/call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HTTP / streamableHttp JSON-RPC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SSE endpoint/message 兼容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resources/prompts 查询读取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autoApprove 通配规则</a:t>
            </a:r>
          </a:p>
        </p:txBody>
      </p:sp>
      <p:sp>
        <p:nvSpPr>
          <p:cNvPr id="10" name="Skill">
            <a:extLst xmlns:a="http://schemas.openxmlformats.org/drawingml/2006/main">
              <a:ext uri="{FF2B5EF4-FFF2-40B4-BE49-F238E27FC236}">
                <a16:creationId xmlns:a16="http://schemas.microsoft.com/office/drawing/2014/main" id="{A486E8C8-ED50-44B7-97CE-66EECD27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90650"/>
            <a:ext cx="3238500" cy="3333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DF335-1785-4C60-A4D3-7AE2F5E6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9065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99405-7AA1-49D1-AB2F-9CA8FB2C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811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3F705-8F6E-4417-8E3F-983B89A3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81200"/>
            <a:ext cx="27813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本地安装、启用、禁用、列表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manifest 保存到 .clawagent/skills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document / http / script / java 执行器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权限声明校验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系统 Skill: create/install</a:t>
            </a:r>
          </a:p>
        </p:txBody>
      </p:sp>
      <p:sp>
        <p:nvSpPr>
          <p:cNvPr id="14" name="Toolkit">
            <a:extLst xmlns:a="http://schemas.openxmlformats.org/drawingml/2006/main">
              <a:ext uri="{FF2B5EF4-FFF2-40B4-BE49-F238E27FC236}">
                <a16:creationId xmlns:a16="http://schemas.microsoft.com/office/drawing/2014/main" id="{B9E46308-5C48-4515-B500-674EF9AC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90650"/>
            <a:ext cx="3238500" cy="3333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B7B35-4458-4702-88A0-A2E7A9CE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9065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2C0DF-CE1D-4BB9-902B-E4860678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811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Toolkit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BC181-7359-40DC-93F1-0EAA9FB8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81200"/>
            <a:ext cx="27813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time / weather / web.fetch / web.search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filesystem 读、列、搜、信息、受控写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execute 与 process.start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业务 AgentTool Bean 自动发现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高危工具接入 ToolGuard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2213FC-378C-497F-92BC-35F068E6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102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落地重点：不是把工具分散在不同插件里，而是统一注册、统一审批、统一审计、统一事件流。</a:t>
            </a:r>
          </a:p>
        </p:txBody>
      </p:sp>
    </p:spTree>
    <p:extLst>
      <p:ext uri="{BB962C8B-B14F-4D97-AF65-F5344CB8AC3E}">
        <p14:creationId xmlns:p14="http://schemas.microsoft.com/office/powerpoint/2010/main" val="320653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E1402F-91BD-4E47-9BA2-54F3E920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867B4-4142-474C-928A-EFC2BA1F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身份、权限与审批治理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67D88-0EE1-4DA3-93A3-7D1E19D6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从单机 Demo 走向可管可审的本地企业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1D1DA-DDDC-42D0-9AC6-DAFA1C64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3EDB9-09BB-4E2D-B3D9-D447C844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身份体系">
            <a:extLst xmlns:a="http://schemas.openxmlformats.org/drawingml/2006/main">
              <a:ext uri="{FF2B5EF4-FFF2-40B4-BE49-F238E27FC236}">
                <a16:creationId xmlns:a16="http://schemas.microsoft.com/office/drawing/2014/main" id="{B34EF2D3-A906-4F6C-89D7-ED1E7525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4857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F2CDF-A718-494D-87A0-261FF39C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A4456-3019-418F-B863-37654924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621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身份体系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09292-D08C-4A56-821B-FB72FEB2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本地 owner 初始化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用户登录/退出/会话撤销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API Token owner/scope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当前用户注入任务 userId</a:t>
            </a:r>
          </a:p>
        </p:txBody>
      </p:sp>
      <p:sp>
        <p:nvSpPr>
          <p:cNvPr id="10" name="设备与通道">
            <a:extLst xmlns:a="http://schemas.openxmlformats.org/drawingml/2006/main">
              <a:ext uri="{FF2B5EF4-FFF2-40B4-BE49-F238E27FC236}">
                <a16:creationId xmlns:a16="http://schemas.microsoft.com/office/drawing/2014/main" id="{B5AD03CB-D9CF-442A-A9A5-C0C2878C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71600"/>
            <a:ext cx="4857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1F8B5-BF80-4AA2-8E07-EBE7580B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716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7955F-3287-4E5B-9603-B42DD129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设备与通道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CAAA1-04E1-4414-96AC-F2D4A278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2150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设备配对、密钥校验、心跳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设备用户绑定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Channel 外部用户绑定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Token/User/Device/Channel 合并</a:t>
            </a:r>
          </a:p>
        </p:txBody>
      </p:sp>
      <p:sp>
        <p:nvSpPr>
          <p:cNvPr id="14" name="审批与策略">
            <a:extLst xmlns:a="http://schemas.openxmlformats.org/drawingml/2006/main">
              <a:ext uri="{FF2B5EF4-FFF2-40B4-BE49-F238E27FC236}">
                <a16:creationId xmlns:a16="http://schemas.microsoft.com/office/drawing/2014/main" id="{D1953632-476B-4254-9CDC-5350B096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4857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598DE-F9E8-4BD4-BB5B-0BE7B4B3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F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45FD56-9738-479F-810D-F2E7B770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审批与策略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45D7F-5EE1-48E0-A283-C0350A24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PendingAction 三类确认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高危工具完整确认文本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角色策略默认审批模式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Agent 子任务工具边界</a:t>
            </a:r>
          </a:p>
        </p:txBody>
      </p:sp>
      <p:sp>
        <p:nvSpPr>
          <p:cNvPr id="18" name="入口保护">
            <a:extLst xmlns:a="http://schemas.openxmlformats.org/drawingml/2006/main">
              <a:ext uri="{FF2B5EF4-FFF2-40B4-BE49-F238E27FC236}">
                <a16:creationId xmlns:a16="http://schemas.microsoft.com/office/drawing/2014/main" id="{ACD66B50-989E-4B8A-8058-A8EBDC16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67100"/>
            <a:ext cx="4857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90ABF-1357-40FA-9E0E-AC5BD5EB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671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9CD220-9ABC-45C5-AAC9-EB92C888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576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入口保护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D638CD-9274-4CCE-A36E-B798CFE8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57650"/>
            <a:ext cx="4400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单机固定窗口 Rate Limit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按 Token/User/Device/IP 分桶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Prompt Injection Defense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SensitiveDataInterceptor 脱敏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65F8C0-2E59-4B89-9BF7-62D71240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来源：README 当前完成情况、权限治理、通道 Channel 说明。</a:t>
            </a:r>
          </a:p>
        </p:txBody>
      </p:sp>
    </p:spTree>
    <p:extLst>
      <p:ext uri="{BB962C8B-B14F-4D97-AF65-F5344CB8AC3E}">
        <p14:creationId xmlns:p14="http://schemas.microsoft.com/office/powerpoint/2010/main" val="156750929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965D2-CA7D-4157-89C0-68F00FEC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A5F8E-E16D-41C3-B6A5-9516ED0D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Worker 与 SubAgent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5AF3E-F8E9-42D3-94CC-61C0898E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把高危执行和并行子任务从主 Runtime 中隔离出来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DDD1A-3C86-430C-A97C-3E840988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B7014-E8C0-4793-9239-66370885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高危命令 Worker">
            <a:extLst xmlns:a="http://schemas.openxmlformats.org/drawingml/2006/main">
              <a:ext uri="{FF2B5EF4-FFF2-40B4-BE49-F238E27FC236}">
                <a16:creationId xmlns:a16="http://schemas.microsoft.com/office/drawing/2014/main" id="{B3698CCD-1979-493F-806D-7A9E762E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3238500" cy="34480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DAD34-F5A7-4096-AD06-2FD989F3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762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F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38143-6471-4F5F-A243-9BB0433D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高危命令 Worker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EA3C5-BF1B-4A54-997F-CC78F5A4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27813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execute high risk 才启用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独立 JVM worker 进程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超时强杀、输出上限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JVM heap / CPU 时间限制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主服务侧 worker 并发池</a:t>
            </a:r>
          </a:p>
        </p:txBody>
      </p:sp>
      <p:sp>
        <p:nvSpPr>
          <p:cNvPr id="10" name="process.start 隔离">
            <a:extLst xmlns:a="http://schemas.openxmlformats.org/drawingml/2006/main">
              <a:ext uri="{FF2B5EF4-FFF2-40B4-BE49-F238E27FC236}">
                <a16:creationId xmlns:a16="http://schemas.microsoft.com/office/drawing/2014/main" id="{58FD1722-B007-47B9-BE02-A0A57965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90650"/>
            <a:ext cx="3238500" cy="34480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CD911-39F7-42F2-A86E-C6F789DA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90650"/>
            <a:ext cx="762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64B6F-3467-463B-ABA8-F461654F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811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process.start 隔离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BFC9D-EB41-4FAE-BF8F-85ADDF01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81200"/>
            <a:ext cx="27813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后台进程可通过 worker 启动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返回 pid 后由主服务托管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记录 worker pid/exitCode/elapsedMs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stdout/stderr 截断信息回传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便于审计和排障</a:t>
            </a:r>
          </a:p>
        </p:txBody>
      </p:sp>
      <p:sp>
        <p:nvSpPr>
          <p:cNvPr id="14" name="SubAgent 编排">
            <a:extLst xmlns:a="http://schemas.openxmlformats.org/drawingml/2006/main">
              <a:ext uri="{FF2B5EF4-FFF2-40B4-BE49-F238E27FC236}">
                <a16:creationId xmlns:a16="http://schemas.microsoft.com/office/drawing/2014/main" id="{30A472CD-7772-4E82-AD14-DCC1D076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0650"/>
            <a:ext cx="3238500" cy="34480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BCDCA-657F-4968-9EAB-9B1035DC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0650"/>
            <a:ext cx="762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2A11B-6C08-4BC9-AD65-F57CE253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811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SubAgent 编排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41FEE0-BB7C-4B7F-B4F0-B930D19B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81200"/>
            <a:ext cx="27813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单个派生、批量派发、并行提交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默认只读继承项目上下文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parallel 默认最多 4，硬上限 8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from-plan 可把 PlanItem 转子任务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高危审批不横向扩散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9DF023-07A8-4F4A-B256-FB658E8E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2450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边界：worker 不做第二套完整 Runtime；它只负责“在哪里执行、怎么限制、怎么杀掉”。</a:t>
            </a:r>
          </a:p>
        </p:txBody>
      </p:sp>
    </p:spTree>
    <p:extLst>
      <p:ext uri="{BB962C8B-B14F-4D97-AF65-F5344CB8AC3E}">
        <p14:creationId xmlns:p14="http://schemas.microsoft.com/office/powerpoint/2010/main" val="61752600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920F13-3AF0-410F-A457-00B070E8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734A6-2E25-46B3-84A5-3E4B36C3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管理台、App 与运维视角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8278E-6EB0-4DD9-87B4-D45C18DF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前端不只是聊天框，而是把配置、审计、能力边界和本地运行状态显性化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DC59C-1EBE-4316-B22A-73FAC10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38017-8B70-402C-9798-6C94A8D2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Admin Console">
            <a:extLst xmlns:a="http://schemas.openxmlformats.org/drawingml/2006/main">
              <a:ext uri="{FF2B5EF4-FFF2-40B4-BE49-F238E27FC236}">
                <a16:creationId xmlns:a16="http://schemas.microsoft.com/office/drawing/2014/main" id="{BD286200-D0A6-462C-84EE-CAEE4A5F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2476500" cy="36004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C98E4-7F0E-44B0-9D8D-7C30AEB1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62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90CDF-7ECE-4679-BFD8-D66167E6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Admin Console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40429-1FC9-40AB-9966-99685967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0193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总览指标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会话/任务/Todo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MCP / Skill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Token usage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审计/自动化/文件审查</a:t>
            </a:r>
          </a:p>
        </p:txBody>
      </p:sp>
      <p:sp>
        <p:nvSpPr>
          <p:cNvPr id="10" name="Desktop App">
            <a:extLst xmlns:a="http://schemas.openxmlformats.org/drawingml/2006/main">
              <a:ext uri="{FF2B5EF4-FFF2-40B4-BE49-F238E27FC236}">
                <a16:creationId xmlns:a16="http://schemas.microsoft.com/office/drawing/2014/main" id="{508AB238-015B-48D0-AD4D-B4459F3D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33500"/>
            <a:ext cx="2476500" cy="36004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DFA32-4575-4EDA-B617-562ABACE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33500"/>
            <a:ext cx="762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62EF8-79AE-44F2-86E2-5EF3B3A5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240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Desktop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4B637-F6EA-44B6-AFC3-C37EFB55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24050"/>
            <a:ext cx="20193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聊天工作台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计划模式开关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文件审查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设置页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设备配对/心跳</a:t>
            </a:r>
          </a:p>
        </p:txBody>
      </p:sp>
      <p:sp>
        <p:nvSpPr>
          <p:cNvPr id="14" name="Web Console">
            <a:extLst xmlns:a="http://schemas.openxmlformats.org/drawingml/2006/main">
              <a:ext uri="{FF2B5EF4-FFF2-40B4-BE49-F238E27FC236}">
                <a16:creationId xmlns:a16="http://schemas.microsoft.com/office/drawing/2014/main" id="{5AE7A6A8-4A3C-4F8E-A738-28D9428C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33500"/>
            <a:ext cx="2476500" cy="36004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4EE7D-F2B5-4599-9C3B-A13D8081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33500"/>
            <a:ext cx="762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FCFC1-5502-438C-9734-3ED8E892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240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Web Console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A5EC8-424C-40BA-894C-282F0608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24050"/>
            <a:ext cx="20193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保留轻量入口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适合快速验证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REST/SSE 流式任务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本地服务端口 17891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Health API</a:t>
            </a:r>
          </a:p>
        </p:txBody>
      </p:sp>
      <p:sp>
        <p:nvSpPr>
          <p:cNvPr id="18" name="运维页面">
            <a:extLst xmlns:a="http://schemas.openxmlformats.org/drawingml/2006/main">
              <a:ext uri="{FF2B5EF4-FFF2-40B4-BE49-F238E27FC236}">
                <a16:creationId xmlns:a16="http://schemas.microsoft.com/office/drawing/2014/main" id="{CC1228EE-416A-4B4F-A0CD-7163F9C0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33500"/>
            <a:ext cx="2476500" cy="36004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C3D12-0941-4123-A27B-1D672F54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33500"/>
            <a:ext cx="762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F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D9EDE0-6B87-4C41-916E-E39AE421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5240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运维页面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2CD3A9-7FE2-457F-B184-F43E347F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24050"/>
            <a:ext cx="20193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本地配置健康检查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Worker jar 路径检查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Channel 绑定管理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Auth 角色门禁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异常任务与日志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C47514-9A9A-4F34-B0B1-FAA80B32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来源：README 管理台、App、当前完成情况。</a:t>
            </a:r>
          </a:p>
        </p:txBody>
      </p:sp>
    </p:spTree>
    <p:extLst>
      <p:ext uri="{BB962C8B-B14F-4D97-AF65-F5344CB8AC3E}">
        <p14:creationId xmlns:p14="http://schemas.microsoft.com/office/powerpoint/2010/main" val="198913103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555DA6-788F-4B0B-8071-50A6B918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E0A34-F9C8-4F0B-8FF2-7A2F5B66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审计、记忆与运行数据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4EC97-71A4-41FC-BB56-93D743FF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让 Agent 每一步都能被复盘，而不是只看到最终回答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B2400-49A1-44AB-874D-F25D8961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05404-EA54-49D1-9956-659AFFED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任务事件">
            <a:extLst xmlns:a="http://schemas.openxmlformats.org/drawingml/2006/main">
              <a:ext uri="{FF2B5EF4-FFF2-40B4-BE49-F238E27FC236}">
                <a16:creationId xmlns:a16="http://schemas.microsoft.com/office/drawing/2014/main" id="{ECB2DC60-2CB3-4203-8D6A-65373A5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31432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47C1C-A4D5-4C68-B11E-D362D291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762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B480F-16F3-4BF2-8884-C3843E2C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00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任务事件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C0EB5-1E7B-49E7-A3BA-885A7ACE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26860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task.started / completed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step.started / finished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tool started / succeeded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llm.delta / llm.completed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plan.updated</a:t>
            </a:r>
          </a:p>
        </p:txBody>
      </p:sp>
      <p:sp>
        <p:nvSpPr>
          <p:cNvPr id="10" name="审计与回放">
            <a:extLst xmlns:a="http://schemas.openxmlformats.org/drawingml/2006/main">
              <a:ext uri="{FF2B5EF4-FFF2-40B4-BE49-F238E27FC236}">
                <a16:creationId xmlns:a16="http://schemas.microsoft.com/office/drawing/2014/main" id="{D359417C-3327-443C-BFA6-AC9FCA68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09700"/>
            <a:ext cx="31432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EE4A0-94E6-47BA-8DBB-BF68C1C2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09700"/>
            <a:ext cx="762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F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68675-554F-454E-9AC6-7B80E724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600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审计与回放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0BF33-BB36-46EB-8687-FDE4EFE9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000250"/>
            <a:ext cx="26860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Audit Log / 事件回放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工具审批记录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文件审查 / 回滚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任务恢复和 checkpoint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敏感字段脱敏</a:t>
            </a:r>
          </a:p>
        </p:txBody>
      </p:sp>
      <p:sp>
        <p:nvSpPr>
          <p:cNvPr id="14" name="Token 与记忆">
            <a:extLst xmlns:a="http://schemas.openxmlformats.org/drawingml/2006/main">
              <a:ext uri="{FF2B5EF4-FFF2-40B4-BE49-F238E27FC236}">
                <a16:creationId xmlns:a16="http://schemas.microsoft.com/office/drawing/2014/main" id="{224B95BF-D914-42D5-8B19-0CCB1A5D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09700"/>
            <a:ext cx="31432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624AB-7EF3-4615-9E2A-273A807E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409700"/>
            <a:ext cx="762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0041D5-4DB8-417C-920B-7610A7D9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00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Token 与记忆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FBC0E-CB03-42BB-AE0D-72CDB571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6860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按 model / phase 聚合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prompt/completion/total tokens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FTS5 + JVector + RRF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命中记录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候选审核管理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AF92D0-ED9B-4DA2-803A-9CCD2BD9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对企业来说，关键不是 Agent 能不能答，而是它为什么这么做、调用了什么、谁批准的、能不能回放。</a:t>
            </a:r>
          </a:p>
        </p:txBody>
      </p:sp>
    </p:spTree>
    <p:extLst>
      <p:ext uri="{BB962C8B-B14F-4D97-AF65-F5344CB8AC3E}">
        <p14:creationId xmlns:p14="http://schemas.microsoft.com/office/powerpoint/2010/main" val="14144658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FEAF81-5D51-4769-A627-8152F38E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E8808-D032-413D-8A48-AE6B6D5C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多种使用场景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84A7B-828F-4A1C-B602-762E58B4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围绕 Java 企业系统、本地行动和 IM 工作流落地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57814-4561-4B34-8776-2946F0FB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52536-BF61-41AF-8B70-C33A41FA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企业系统内嵌 Agent">
            <a:extLst xmlns:a="http://schemas.openxmlformats.org/drawingml/2006/main">
              <a:ext uri="{FF2B5EF4-FFF2-40B4-BE49-F238E27FC236}">
                <a16:creationId xmlns:a16="http://schemas.microsoft.com/office/drawing/2014/main" id="{BDA20990-1D70-4FDF-B0B6-FBBDD408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16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0CA23-BE80-4E27-82AC-2250E847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16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44BB1-ED16-45BB-B4B5-A02D64BD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621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企业系统内嵌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3A861-6444-4EBE-8CC0-0222CD8C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Spring Boot starter 自动装配业务 AgentTool Bean，复用企业权限和审计。</a:t>
            </a:r>
          </a:p>
        </p:txBody>
      </p:sp>
      <p:sp>
        <p:nvSpPr>
          <p:cNvPr id="10" name="本地开发行动助手">
            <a:extLst xmlns:a="http://schemas.openxmlformats.org/drawingml/2006/main">
              <a:ext uri="{FF2B5EF4-FFF2-40B4-BE49-F238E27FC236}">
                <a16:creationId xmlns:a16="http://schemas.microsoft.com/office/drawing/2014/main" id="{3CB9993A-0076-4F3F-AB93-8C2F24FA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716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31401-C8C5-4531-B17E-1C7A2879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716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76FBE-8784-4C10-823E-C70459EF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621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本地开发行动助手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945E8-7080-4E43-BC55-8EF7FCB6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431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读取项目文件、搜索、执行低危命令，高危动作走审批和 worker 隔离。</a:t>
            </a:r>
          </a:p>
        </p:txBody>
      </p:sp>
      <p:sp>
        <p:nvSpPr>
          <p:cNvPr id="14" name="IM 协同入口">
            <a:extLst xmlns:a="http://schemas.openxmlformats.org/drawingml/2006/main">
              <a:ext uri="{FF2B5EF4-FFF2-40B4-BE49-F238E27FC236}">
                <a16:creationId xmlns:a16="http://schemas.microsoft.com/office/drawing/2014/main" id="{14C1149C-ED44-4BC1-948F-220CB1AB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716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65E8C-F1AF-4773-ACBB-DDC46F3B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716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18E5B-4980-479A-8732-66D621EF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621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IM 协同入口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2412D-8AA6-411C-8DF4-2418D9C7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431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飞书/钉钉/DDIO 消息进入 ChannelRouter，支持附件与富文本摘要。</a:t>
            </a:r>
          </a:p>
        </p:txBody>
      </p:sp>
      <p:sp>
        <p:nvSpPr>
          <p:cNvPr id="18" name="计划型复杂任务">
            <a:extLst xmlns:a="http://schemas.openxmlformats.org/drawingml/2006/main">
              <a:ext uri="{FF2B5EF4-FFF2-40B4-BE49-F238E27FC236}">
                <a16:creationId xmlns:a16="http://schemas.microsoft.com/office/drawing/2014/main" id="{77A114DF-DF42-4F94-8C53-AF102566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CC537A-A7F8-4839-ACCC-68D84A6D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F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8C104-86C0-49FF-BB52-27CE5B21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计划型复杂任务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AD0121-8FFC-4ECD-AD68-FE778EEA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先生成计划，用户确认后执行，阻塞后可修订继续。</a:t>
            </a:r>
          </a:p>
        </p:txBody>
      </p:sp>
      <p:sp>
        <p:nvSpPr>
          <p:cNvPr id="22" name="定时巡检与自动化">
            <a:extLst xmlns:a="http://schemas.openxmlformats.org/drawingml/2006/main">
              <a:ext uri="{FF2B5EF4-FFF2-40B4-BE49-F238E27FC236}">
                <a16:creationId xmlns:a16="http://schemas.microsoft.com/office/drawing/2014/main" id="{F66864D3-A4E4-4EC1-B211-CDDC3BA4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9BABF-A250-4C7C-A706-F6E85885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8C59D2-81F3-40BC-8E84-26BBA8BB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定时巡检与自动化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6399F2-4617-4171-B3F6-D0A2F7FD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671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Cron/间隔/单次任务，失败重试和运行历史保留。</a:t>
            </a:r>
          </a:p>
        </p:txBody>
      </p:sp>
      <p:sp>
        <p:nvSpPr>
          <p:cNvPr id="26" name="知识问答与文件审查">
            <a:extLst xmlns:a="http://schemas.openxmlformats.org/drawingml/2006/main">
              <a:ext uri="{FF2B5EF4-FFF2-40B4-BE49-F238E27FC236}">
                <a16:creationId xmlns:a16="http://schemas.microsoft.com/office/drawing/2014/main" id="{CDC76BD2-5553-48EB-B137-2286045C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956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236533-389B-49D0-93F2-459AF1A7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956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A6D4B0-5BBD-42BA-B60E-FC77C71C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861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知识问答与文件审查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7E6A1E-1109-4166-9EEE-E2CCEB47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附件入库、知识检索、文件审查、diff 和回滚进入同一任务链路。</a:t>
            </a:r>
          </a:p>
        </p:txBody>
      </p:sp>
    </p:spTree>
    <p:extLst>
      <p:ext uri="{BB962C8B-B14F-4D97-AF65-F5344CB8AC3E}">
        <p14:creationId xmlns:p14="http://schemas.microsoft.com/office/powerpoint/2010/main" val="61724676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9E74F0-C2C9-451B-8D52-3B0EF8DA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9A44F-3CE2-4F7B-A803-4604DDBF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与 OpenClaw 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F7102-AF3C-41BC-BD29-88954949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OpenClaw 偏个人多通道助手；ClawAgent 偏 Java 企业 Runtime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417CF-D619-4ED6-9D39-77877383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04CE0-AF6C-4B82-815C-4B81F9AA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ClawAgent">
            <a:extLst xmlns:a="http://schemas.openxmlformats.org/drawingml/2006/main">
              <a:ext uri="{FF2B5EF4-FFF2-40B4-BE49-F238E27FC236}">
                <a16:creationId xmlns:a16="http://schemas.microsoft.com/office/drawing/2014/main" id="{55B754E4-CDDF-4EFB-9332-3365A321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3238500" cy="34290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1A97D-CDE8-4517-8FED-C7A42512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7B1EB-2EE6-4D9C-B337-0F879643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621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ClawAgent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8942D-FFA9-4F69-89F8-AE31AB0C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2781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Java 17 / Spring Boot / Maven 多模块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可嵌入业务系统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ToolGuard、审计、审批、脱敏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Plan/Automation/Worker/SubAgent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适合企业内应用集成</a:t>
            </a:r>
          </a:p>
        </p:txBody>
      </p:sp>
      <p:sp>
        <p:nvSpPr>
          <p:cNvPr id="10" name="OpenClaw">
            <a:extLst xmlns:a="http://schemas.openxmlformats.org/drawingml/2006/main">
              <a:ext uri="{FF2B5EF4-FFF2-40B4-BE49-F238E27FC236}">
                <a16:creationId xmlns:a16="http://schemas.microsoft.com/office/drawing/2014/main" id="{7DE67995-8304-4668-BDE7-69484BAB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71600"/>
            <a:ext cx="3238500" cy="34290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75B6E-EB86-495C-93D4-317336A9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716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D8B9B-50A6-4212-B63C-0D30F4DF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621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OpenClaw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B37FC-C4FE-4E91-8B5F-8F3538C7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62150"/>
            <a:ext cx="2781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个人 AI Assistant / Local-first Gateway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多通道覆盖更突出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移动/语音/Canvas 体验更强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生态偏个人助手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企业 Java 内嵌不是重点</a:t>
            </a:r>
          </a:p>
        </p:txBody>
      </p:sp>
      <p:sp>
        <p:nvSpPr>
          <p:cNvPr id="14" name="选型判断">
            <a:extLst xmlns:a="http://schemas.openxmlformats.org/drawingml/2006/main">
              <a:ext uri="{FF2B5EF4-FFF2-40B4-BE49-F238E27FC236}">
                <a16:creationId xmlns:a16="http://schemas.microsoft.com/office/drawing/2014/main" id="{953E8833-0220-421F-BA6D-781CBE30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371600"/>
            <a:ext cx="3238500" cy="34290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C2BFA-C634-48A2-BB1B-8FE6FDF8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37160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F2C25-5685-447F-9585-BB9CA0CD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621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选型判断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48B8E-35C8-4B35-BDE8-055A03C2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62150"/>
            <a:ext cx="2781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做 Java 企业系统集成：ClawAgent 更顺手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做个人助手和多通道常驻体验：OpenClaw 更完整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两者都重视安全，但治理粒度不同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7D71F3-2BD5-486C-B9C4-0C442021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核心判断：OpenClaw 的强项是个人多通道常驻体验；ClawAgent 的强项是 Java 企业系统里的可嵌入、可审计、可治理。</a:t>
            </a:r>
          </a:p>
        </p:txBody>
      </p:sp>
    </p:spTree>
    <p:extLst>
      <p:ext uri="{BB962C8B-B14F-4D97-AF65-F5344CB8AC3E}">
        <p14:creationId xmlns:p14="http://schemas.microsoft.com/office/powerpoint/2010/main" val="28747450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66182-B20B-498B-AEB3-78F91B4A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B0935-3C59-43C9-B00E-BB77DFC2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与 Hermes Agent / AgentScope 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6DBC8-FB77-4745-B40C-3C066D29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一个偏产品化自改进，一个偏通用生态栈，ClawAgent 偏企业应用内核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DC9F9-0057-4921-9669-8C1E2FAF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2D3AE-364B-4C05-A15E-CD6C17BD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Hermes Agent">
            <a:extLst xmlns:a="http://schemas.openxmlformats.org/drawingml/2006/main">
              <a:ext uri="{FF2B5EF4-FFF2-40B4-BE49-F238E27FC236}">
                <a16:creationId xmlns:a16="http://schemas.microsoft.com/office/drawing/2014/main" id="{D2D3B7C6-7065-49D7-8719-2CD92DE1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3143250" cy="36385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A2696-DB39-4FB8-A1C4-CF8A4784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62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ECF32-9FA4-491B-B732-00D81986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Hermes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1060B-B4A8-4DE8-90F5-3550696B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686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Nous Research 自改进 Agent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学习循环、技能自创建/自改进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跨平台工具生态更成熟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适合产品化 Agent 能力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ClawAgent 更偏 Java 业务底座</a:t>
            </a:r>
          </a:p>
        </p:txBody>
      </p:sp>
      <p:sp>
        <p:nvSpPr>
          <p:cNvPr id="10" name="AgentScope">
            <a:extLst xmlns:a="http://schemas.openxmlformats.org/drawingml/2006/main">
              <a:ext uri="{FF2B5EF4-FFF2-40B4-BE49-F238E27FC236}">
                <a16:creationId xmlns:a16="http://schemas.microsoft.com/office/drawing/2014/main" id="{2A06452D-251D-4EF0-BDF6-F589A1DA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52550"/>
            <a:ext cx="3143250" cy="36385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15C22-FD11-4736-AB9F-20CB532D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52550"/>
            <a:ext cx="762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65541-A2F2-41CE-A7F8-38FE3E35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430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AgentScope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7B66E-0160-4DAC-A1D2-ED948A5F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43100"/>
            <a:ext cx="2686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通用 Agent 全生命周期栈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开发、运行、记忆、评测、训练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多 Agent 抽象更成熟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生态广度更完整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ClawAgent 更贴 Spring Boot 落地</a:t>
            </a:r>
          </a:p>
        </p:txBody>
      </p:sp>
      <p:sp>
        <p:nvSpPr>
          <p:cNvPr id="14" name="ClawAgent">
            <a:extLst xmlns:a="http://schemas.openxmlformats.org/drawingml/2006/main">
              <a:ext uri="{FF2B5EF4-FFF2-40B4-BE49-F238E27FC236}">
                <a16:creationId xmlns:a16="http://schemas.microsoft.com/office/drawing/2014/main" id="{B27270E9-FF9D-4305-A18D-54FE2135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352550"/>
            <a:ext cx="3143250" cy="36385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96E3E3-CAD5-434D-B69C-2865991F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352550"/>
            <a:ext cx="762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E19CD-83B3-46AC-9095-E873D9E9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430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ClawAgent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202189-9F73-41F3-987F-0F28EE31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43100"/>
            <a:ext cx="2686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Java Harness Agent Runtime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管理台 + Starter + Server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权限、审计、本地执行更深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MCP/Skill/业务工具统一治理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适合现有 Java 系统接入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A8FB4F-CD47-4256-B212-0318E304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一句话：AgentScope 像平台型框架生态，Hermes 像产品化 Agent，ClawAgent 像企业应用内核 + Spring Boot starter。</a:t>
            </a:r>
          </a:p>
        </p:txBody>
      </p:sp>
    </p:spTree>
    <p:extLst>
      <p:ext uri="{BB962C8B-B14F-4D97-AF65-F5344CB8AC3E}">
        <p14:creationId xmlns:p14="http://schemas.microsoft.com/office/powerpoint/2010/main" val="8025021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4F88C-D64D-4DC7-B42E-3ED5BE58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CC5F1-6A7F-4137-B885-6008D626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项目优缺点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73910-ABF9-486C-94D8-2E73639D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结合当前仓库成熟度和竞品差异看选型边界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F7858-1A6C-4E6B-B949-8DEAA91F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7DDED-4EAA-4268-B751-31F00F1B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主要优点">
            <a:extLst xmlns:a="http://schemas.openxmlformats.org/drawingml/2006/main">
              <a:ext uri="{FF2B5EF4-FFF2-40B4-BE49-F238E27FC236}">
                <a16:creationId xmlns:a16="http://schemas.microsoft.com/office/drawing/2014/main" id="{70A86102-F1BF-4428-9580-947C8221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14350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ED1DD-19A8-4D63-83EB-32162557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62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B9806-E9FA-49F8-A94B-532B41CF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主要优点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FAAB8-95B3-4499-8E68-9F8A2C22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46863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Java / Spring Boot 原生，适合已有企业后端集成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Runtime、Planner、工具、MCP、Skill、Channel 分层清晰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计划模式、审批、审计、Worker 隔离已经进入主链路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SQLite + 本地记忆 + JVector，单机可直接跑通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Admin/App/Web 三端能支撑配置、运维和调试</a:t>
            </a:r>
          </a:p>
        </p:txBody>
      </p:sp>
      <p:sp>
        <p:nvSpPr>
          <p:cNvPr id="10" name="主要不足">
            <a:extLst xmlns:a="http://schemas.openxmlformats.org/drawingml/2006/main">
              <a:ext uri="{FF2B5EF4-FFF2-40B4-BE49-F238E27FC236}">
                <a16:creationId xmlns:a16="http://schemas.microsoft.com/office/drawing/2014/main" id="{7CCE31F7-CD21-4970-8A58-8B7728CA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514350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3F23D-94C4-4DA2-9D63-0F2BCBC7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762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2F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EF72D-4730-42B5-8882-5067CDB5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430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主要不足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B9564-4639-4080-AAB0-826C769D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43100"/>
            <a:ext cx="46863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外部向量库、Redis、分布式部署仍不是主能力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评测/训练/多 Agent 生态不如 AgentScope 完整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代码沙箱和 OS 级隔离还需继续增强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企业级组织/用户组权限矩阵还在后续方向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当前仓库迭代较快，管理台页面需持续跟随后端能力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2C020-39C8-4B3B-92F8-38A71BDB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适合优先选择 ClawAgent 的场景：Java 企业应用内嵌、本地行动 Agent、需要审批/审计/脱敏/文件回滚的受控自动化。</a:t>
            </a:r>
          </a:p>
        </p:txBody>
      </p:sp>
    </p:spTree>
    <p:extLst>
      <p:ext uri="{BB962C8B-B14F-4D97-AF65-F5344CB8AC3E}">
        <p14:creationId xmlns:p14="http://schemas.microsoft.com/office/powerpoint/2010/main" val="132146962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EE386-0951-4892-ADC3-ADE99485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44FD1-991F-4C1F-A348-F1B26E6D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后续演进建议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B2FF2-C548-4D57-B10A-16D99992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保持 Java 企业落地主线，补齐生态广度和生产化能力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38325-2BEE-4E1C-A62F-0C76E310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7378C-6C62-4BFE-9F0A-93A03B9D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短期">
            <a:extLst xmlns:a="http://schemas.openxmlformats.org/drawingml/2006/main">
              <a:ext uri="{FF2B5EF4-FFF2-40B4-BE49-F238E27FC236}">
                <a16:creationId xmlns:a16="http://schemas.microsoft.com/office/drawing/2014/main" id="{AA9F51E4-4260-4EF7-B2E1-1F6BA69D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04950"/>
            <a:ext cx="30099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F6919-ECC0-44BA-8463-2B422239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04950"/>
            <a:ext cx="762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031A9-8805-4862-8219-0B3243A9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短期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BE72C-8882-43B6-AD3A-5EE871BB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25527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优化 Planner 动态路由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增强 Plan 自动重规划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补管理台缺失页面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完善通道审批策略</a:t>
            </a:r>
          </a:p>
        </p:txBody>
      </p:sp>
      <p:sp>
        <p:nvSpPr>
          <p:cNvPr id="10" name="中期">
            <a:extLst xmlns:a="http://schemas.openxmlformats.org/drawingml/2006/main">
              <a:ext uri="{FF2B5EF4-FFF2-40B4-BE49-F238E27FC236}">
                <a16:creationId xmlns:a16="http://schemas.microsoft.com/office/drawing/2014/main" id="{C8018F3D-E6BF-4951-AEBB-83A1BC5D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04950"/>
            <a:ext cx="30099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0F4BB-7164-4738-95C1-D12BF08D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04950"/>
            <a:ext cx="762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0FFFB-9843-46F4-A81D-55B28211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954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中期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763B2-E26A-42C0-8A88-67B284D9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95500"/>
            <a:ext cx="25527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接入 Redis / 分布式任务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外部 VectorStore 适配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企业权限矩阵编辑器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更强观测和评测报表</a:t>
            </a:r>
          </a:p>
        </p:txBody>
      </p:sp>
      <p:sp>
        <p:nvSpPr>
          <p:cNvPr id="14" name="长期">
            <a:extLst xmlns:a="http://schemas.openxmlformats.org/drawingml/2006/main">
              <a:ext uri="{FF2B5EF4-FFF2-40B4-BE49-F238E27FC236}">
                <a16:creationId xmlns:a16="http://schemas.microsoft.com/office/drawing/2014/main" id="{F6E9485F-F5E8-42CD-AF83-C16EFBD1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0099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87074A-0009-4166-AFB4-F451EF62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762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D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EE640-4E73-4F76-A715-4631E7E0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954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长期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42DF8-0D8C-49A4-ADCA-84DC9E40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25527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OS 级沙箱和资源隔离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多 Agent 编排策略成熟化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组织级审计解释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插件/Skill 市场化管理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8FDC00-B029-449D-A4DB-7468BDDD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建议不要偏离主定位：优先做企业应用内核，把权限、审计、工具治理、Runtime 稳定性打磨扎实。</a:t>
            </a:r>
          </a:p>
        </p:txBody>
      </p:sp>
    </p:spTree>
    <p:extLst>
      <p:ext uri="{BB962C8B-B14F-4D97-AF65-F5344CB8AC3E}">
        <p14:creationId xmlns:p14="http://schemas.microsoft.com/office/powerpoint/2010/main" val="82549579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8328F-DAC9-4149-AFEA-78B482CF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B8AEE-3D4F-4660-A1D3-4D47F30C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资料来源与说明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B5EC8-1ABF-4F15-92AB-EB91406C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内容以当前仓库文档与源码结构为主，并结合竞品公开定位做判断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F7F76-E2B7-44C3-8CDF-D04C9671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19825"/>
            <a:ext cx="4191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5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CFA87-F9D7-404D-A164-56937CF2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76975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项目来源">
            <a:extLst xmlns:a="http://schemas.openxmlformats.org/drawingml/2006/main">
              <a:ext uri="{FF2B5EF4-FFF2-40B4-BE49-F238E27FC236}">
                <a16:creationId xmlns:a16="http://schemas.microsoft.com/office/drawing/2014/main" id="{71BBBFC4-A48A-44EA-9A36-9C0E8E9D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C14B0-1184-4787-9D48-91BA9C7B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DBD7C-2DF7-4415-9024-21F5229A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02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项目来源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294E1-DC1B-447A-8E1A-D4FEFF7B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4305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README.md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CONFIGURATION.md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pom.xml Maven modules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claw-agent-worker/PLAN.md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当前仓库新增模块与接口命名</a:t>
            </a:r>
          </a:p>
        </p:txBody>
      </p:sp>
      <p:sp>
        <p:nvSpPr>
          <p:cNvPr id="10" name="外部比较说明">
            <a:extLst xmlns:a="http://schemas.openxmlformats.org/drawingml/2006/main">
              <a:ext uri="{FF2B5EF4-FFF2-40B4-BE49-F238E27FC236}">
                <a16:creationId xmlns:a16="http://schemas.microsoft.com/office/drawing/2014/main" id="{9D9FB195-ECF1-49A9-9B22-DA88FC08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09700"/>
            <a:ext cx="4762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5F56A-38E8-4FFE-9250-F21FAA2B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097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2EDF8-01E8-4DD6-826D-0EC946D5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002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外部比较说明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5F053-AA85-4503-AF69-077482B9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4305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OpenClaw：按个人多通道助手定位比较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Hermes Agent：按自改进 Agent 产品定位比较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AgentScope：按通用 Agent 生态/框架栈比较</a:t>
            </a:r>
          </a:p>
          <a:p xmlns:a="http://schemas.openxmlformats.org/drawingml/2006/main">
            <a:pPr marL="22" indent="-12">
              <a:lnSpc>
                <a:spcPct val="115000"/>
              </a:lnSpc>
              <a:spcAft>
                <a:spcPts val="7"/>
              </a:spcAft>
              <a:buNone/>
              <a:def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竞品判断用于选型，不作为功能完全等价声明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44B57-379F-458E-A5F0-2E769576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340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00" b="0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83D"/>
                </a:solidFill>
                <a:latin typeface="Microsoft YaHei"/>
                <a:ea typeface="Microsoft YaHei"/>
                <a:cs typeface="Microsoft YaHei"/>
              </a:rPr>
              <a:t>版本口径：根据当前仓库 README 的已完成能力和本次需求整理，适合作为项目介绍、内部评审和软著/架构沟通材料。</a:t>
            </a:r>
          </a:p>
        </p:txBody>
      </p:sp>
    </p:spTree>
    <p:extLst>
      <p:ext uri="{BB962C8B-B14F-4D97-AF65-F5344CB8AC3E}">
        <p14:creationId xmlns:p14="http://schemas.microsoft.com/office/powerpoint/2010/main" val="234027747"/>
      </p:ext>
    </p:extLst>
  </p:cSld>
</p:sld>
</file>

<file path=ppt/theme/theme1.xml><?xml version="1.0" encoding="utf-8"?>
<a:theme xmlns:a="http://schemas.openxmlformats.org/drawingml/2006/main" name="ChatGPT">
  <a:themeElements>
    <a:clrScheme name="ClawAgent Office">
      <a:dk1>
        <a:srgbClr val="000000"/>
      </a:dk1>
      <a:lt1>
        <a:srgbClr val="FFFFFF"/>
      </a:lt1>
      <a:dk2>
        <a:srgbClr val="25283D"/>
      </a:dk2>
      <a:lt2>
        <a:srgbClr val="EEF3F6"/>
      </a:lt2>
      <a:accent1>
        <a:srgbClr val="0078F0"/>
      </a:accent1>
      <a:accent2>
        <a:srgbClr val="2FA69A"/>
      </a:accent2>
      <a:accent3>
        <a:srgbClr val="D6AD2C"/>
      </a:accent3>
      <a:accent4>
        <a:srgbClr val="EF2F4F"/>
      </a:accent4>
      <a:accent5>
        <a:srgbClr val="64748B"/>
      </a:accent5>
      <a:accent6>
        <a:srgbClr val="34A853"/>
      </a:accent6>
      <a:hlink>
        <a:srgbClr val="0078F0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lawAgent 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2026-07-28T01:42:46.6430000Z</dcterms:created>
  <dcterms:modified xsi:type="dcterms:W3CDTF">2026-07-28T01:42:46.6430000Z</dcterms:modified>
</coreProperties>
</file>